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75" r:id="rId4"/>
    <p:sldId id="276" r:id="rId5"/>
    <p:sldId id="277" r:id="rId6"/>
    <p:sldId id="278" r:id="rId7"/>
    <p:sldId id="263" r:id="rId8"/>
    <p:sldId id="282" r:id="rId9"/>
    <p:sldId id="265" r:id="rId10"/>
    <p:sldId id="283" r:id="rId11"/>
    <p:sldId id="281" r:id="rId12"/>
    <p:sldId id="269" r:id="rId13"/>
    <p:sldId id="286" r:id="rId14"/>
    <p:sldId id="274" r:id="rId15"/>
    <p:sldId id="272" r:id="rId16"/>
    <p:sldId id="285" r:id="rId17"/>
  </p:sldIdLst>
  <p:sldSz cx="9144000" cy="5143500" type="screen16x9"/>
  <p:notesSz cx="51435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10" autoAdjust="0"/>
  </p:normalViewPr>
  <p:slideViewPr>
    <p:cSldViewPr snapToGrid="0" snapToObjects="1">
      <p:cViewPr>
        <p:scale>
          <a:sx n="68" d="100"/>
          <a:sy n="68" d="100"/>
        </p:scale>
        <p:origin x="-689" y="-7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AC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3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  <c:spPr>
              <a:solidFill>
                <a:srgbClr val="00ACC1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Math</c:v>
                </c:pt>
                <c:pt idx="1">
                  <c:v>Physics</c:v>
                </c:pt>
                <c:pt idx="2">
                  <c:v>Chemistry</c:v>
                </c:pt>
                <c:pt idx="3">
                  <c:v>Biology</c:v>
                </c:pt>
                <c:pt idx="4">
                  <c:v>English</c:v>
                </c:pt>
                <c:pt idx="5">
                  <c:v>Science</c:v>
                </c:pt>
                <c:pt idx="6">
                  <c:v>History</c:v>
                </c:pt>
                <c:pt idx="7">
                  <c:v>Literature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312</c:v>
                </c:pt>
                <c:pt idx="1">
                  <c:v>198</c:v>
                </c:pt>
                <c:pt idx="2">
                  <c:v>176</c:v>
                </c:pt>
                <c:pt idx="3">
                  <c:v>154</c:v>
                </c:pt>
                <c:pt idx="4">
                  <c:v>146</c:v>
                </c:pt>
                <c:pt idx="5">
                  <c:v>142</c:v>
                </c:pt>
                <c:pt idx="6">
                  <c:v>118</c:v>
                </c:pt>
                <c:pt idx="7">
                  <c:v>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6472960"/>
        <c:axId val="126520704"/>
      </c:barChart>
      <c:catAx>
        <c:axId val="146472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126520704"/>
        <c:crosses val="autoZero"/>
        <c:auto val="1"/>
        <c:lblAlgn val="ctr"/>
        <c:lblOffset val="100"/>
        <c:noMultiLvlLbl val="1"/>
      </c:catAx>
      <c:valAx>
        <c:axId val="12652070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14647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9C727BB-F2CE-4BED-8932-CCC47636AE45}" type="datetimeFigureOut">
              <a:rPr lang="en-US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DCEF5C1-2183-43D4-89D6-A2BEB6E95B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62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BE872A-2B51-46E9-B0C5-3EB96737778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476250" y="6858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514350" y="434340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2913063" y="8685213"/>
            <a:ext cx="222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7543659-4817-4CF0-A65E-2051BA69A518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186194-EB5E-40E5-B06E-A8D1C5450E2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80DBE0-2FD8-4E8B-9F42-24A7841646C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CA7E7C-8706-48B3-B095-14D90FC4562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CA7E7C-8706-48B3-B095-14D90FC4562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96BC73-1D91-4939-92D3-25697FDBB3C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A53205-9627-420D-8BBF-1365BE5E04A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5AF551-7E84-483D-9B6D-75B85C3683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C5D115-D693-488B-A5A0-2CFE3F8BFE0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C5D115-D693-488B-A5A0-2CFE3F8BFE0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40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>
            <a:spLocks noChangeArrowheads="1"/>
          </p:cNvSpPr>
          <p:nvPr/>
        </p:nvSpPr>
        <p:spPr bwMode="auto">
          <a:xfrm>
            <a:off x="0" y="0"/>
            <a:ext cx="73025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"/>
          <p:cNvSpPr>
            <a:spLocks noChangeArrowheads="1"/>
          </p:cNvSpPr>
          <p:nvPr/>
        </p:nvSpPr>
        <p:spPr bwMode="auto">
          <a:xfrm>
            <a:off x="109538" y="0"/>
            <a:ext cx="36512" cy="5143500"/>
          </a:xfrm>
          <a:prstGeom prst="rect">
            <a:avLst/>
          </a:prstGeom>
          <a:solidFill>
            <a:srgbClr val="4F8EF7">
              <a:alpha val="39999"/>
            </a:srgbClr>
          </a:solidFill>
          <a:ln w="12700">
            <a:solidFill>
              <a:srgbClr val="4F8EF7">
                <a:alpha val="39999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2"/>
          <p:cNvSpPr>
            <a:spLocks noChangeArrowheads="1"/>
          </p:cNvSpPr>
          <p:nvPr/>
        </p:nvSpPr>
        <p:spPr bwMode="auto">
          <a:xfrm>
            <a:off x="0" y="4664075"/>
            <a:ext cx="9144000" cy="479425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3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549275"/>
            <a:ext cx="1646237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Text 8"/>
          <p:cNvSpPr>
            <a:spLocks noChangeArrowheads="1"/>
          </p:cNvSpPr>
          <p:nvPr/>
        </p:nvSpPr>
        <p:spPr bwMode="auto">
          <a:xfrm>
            <a:off x="274638" y="914400"/>
            <a:ext cx="6583362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endParaRPr lang="en-US" sz="5200"/>
          </a:p>
        </p:txBody>
      </p:sp>
      <p:sp>
        <p:nvSpPr>
          <p:cNvPr id="1034" name="Text 9"/>
          <p:cNvSpPr>
            <a:spLocks noChangeArrowheads="1"/>
          </p:cNvSpPr>
          <p:nvPr/>
        </p:nvSpPr>
        <p:spPr bwMode="auto">
          <a:xfrm>
            <a:off x="349250" y="1182688"/>
            <a:ext cx="65849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endParaRPr lang="en-US" sz="4000" dirty="0" smtClean="0">
              <a:solidFill>
                <a:srgbClr val="00C9A7"/>
              </a:solidFill>
              <a:cs typeface="Calibri" pitchFamily="34" charset="0"/>
            </a:endParaRPr>
          </a:p>
          <a:p>
            <a:r>
              <a:rPr lang="en-US" sz="4000" dirty="0" smtClean="0">
                <a:solidFill>
                  <a:srgbClr val="00C9A7"/>
                </a:solidFill>
                <a:cs typeface="Calibri" pitchFamily="34" charset="0"/>
              </a:rPr>
              <a:t>AI </a:t>
            </a:r>
            <a:r>
              <a:rPr lang="en-US" sz="4000" dirty="0">
                <a:solidFill>
                  <a:srgbClr val="00C9A7"/>
                </a:solidFill>
                <a:cs typeface="Calibri" pitchFamily="34" charset="0"/>
              </a:rPr>
              <a:t>Homework Helper &amp; Tutor </a:t>
            </a:r>
            <a:endParaRPr lang="en-US" sz="4000" dirty="0"/>
          </a:p>
        </p:txBody>
      </p:sp>
      <p:sp>
        <p:nvSpPr>
          <p:cNvPr id="1046" name="Text 21"/>
          <p:cNvSpPr>
            <a:spLocks noChangeArrowheads="1"/>
          </p:cNvSpPr>
          <p:nvPr/>
        </p:nvSpPr>
        <p:spPr bwMode="auto">
          <a:xfrm>
            <a:off x="349250" y="3983581"/>
            <a:ext cx="5668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23" name="Shape 10"/>
          <p:cNvSpPr>
            <a:spLocks noChangeArrowheads="1"/>
          </p:cNvSpPr>
          <p:nvPr/>
        </p:nvSpPr>
        <p:spPr bwMode="auto">
          <a:xfrm>
            <a:off x="565150" y="3809749"/>
            <a:ext cx="1371600" cy="347663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1"/>
          <p:cNvSpPr>
            <a:spLocks noChangeArrowheads="1"/>
          </p:cNvSpPr>
          <p:nvPr/>
        </p:nvSpPr>
        <p:spPr bwMode="auto">
          <a:xfrm>
            <a:off x="565150" y="3809749"/>
            <a:ext cx="137160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4F8EF7"/>
                </a:solidFill>
              </a:rPr>
              <a:t>React.js</a:t>
            </a:r>
            <a:endParaRPr lang="en-US" sz="1000" dirty="0"/>
          </a:p>
        </p:txBody>
      </p:sp>
      <p:sp>
        <p:nvSpPr>
          <p:cNvPr id="25" name="Shape 12"/>
          <p:cNvSpPr>
            <a:spLocks noChangeArrowheads="1"/>
          </p:cNvSpPr>
          <p:nvPr/>
        </p:nvSpPr>
        <p:spPr bwMode="auto">
          <a:xfrm>
            <a:off x="2073275" y="3809749"/>
            <a:ext cx="1371600" cy="347663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3"/>
          <p:cNvSpPr>
            <a:spLocks noChangeArrowheads="1"/>
          </p:cNvSpPr>
          <p:nvPr/>
        </p:nvSpPr>
        <p:spPr bwMode="auto">
          <a:xfrm>
            <a:off x="2073275" y="3809749"/>
            <a:ext cx="137160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4F8EF7"/>
                </a:solidFill>
              </a:rPr>
              <a:t>Node.js</a:t>
            </a:r>
            <a:endParaRPr lang="en-US" sz="1000" dirty="0"/>
          </a:p>
        </p:txBody>
      </p:sp>
      <p:sp>
        <p:nvSpPr>
          <p:cNvPr id="27" name="Shape 14"/>
          <p:cNvSpPr>
            <a:spLocks noChangeArrowheads="1"/>
          </p:cNvSpPr>
          <p:nvPr/>
        </p:nvSpPr>
        <p:spPr bwMode="auto">
          <a:xfrm>
            <a:off x="3582987" y="3809749"/>
            <a:ext cx="1371600" cy="347663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5"/>
          <p:cNvSpPr>
            <a:spLocks noChangeArrowheads="1"/>
          </p:cNvSpPr>
          <p:nvPr/>
        </p:nvSpPr>
        <p:spPr bwMode="auto">
          <a:xfrm>
            <a:off x="3582987" y="3809749"/>
            <a:ext cx="137160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4F8EF7"/>
                </a:solidFill>
              </a:rPr>
              <a:t>MongoDB</a:t>
            </a:r>
            <a:endParaRPr lang="en-US" sz="1000"/>
          </a:p>
        </p:txBody>
      </p:sp>
      <p:sp>
        <p:nvSpPr>
          <p:cNvPr id="29" name="Shape 16"/>
          <p:cNvSpPr>
            <a:spLocks noChangeArrowheads="1"/>
          </p:cNvSpPr>
          <p:nvPr/>
        </p:nvSpPr>
        <p:spPr bwMode="auto">
          <a:xfrm>
            <a:off x="5091112" y="3809749"/>
            <a:ext cx="1371600" cy="347663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/>
          <p:cNvSpPr>
            <a:spLocks noChangeArrowheads="1"/>
          </p:cNvSpPr>
          <p:nvPr/>
        </p:nvSpPr>
        <p:spPr bwMode="auto">
          <a:xfrm>
            <a:off x="5091112" y="3809749"/>
            <a:ext cx="137160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4F8EF7"/>
                </a:solidFill>
              </a:rPr>
              <a:t>Gemini AI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1"/>
          <p:cNvSpPr>
            <a:spLocks noChangeArrowheads="1"/>
          </p:cNvSpPr>
          <p:nvPr/>
        </p:nvSpPr>
        <p:spPr bwMode="auto">
          <a:xfrm>
            <a:off x="184150" y="-15875"/>
            <a:ext cx="77724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000" b="1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Presented By:</a:t>
            </a:r>
          </a:p>
        </p:txBody>
      </p:sp>
      <p:sp>
        <p:nvSpPr>
          <p:cNvPr id="37" name="Text 34"/>
          <p:cNvSpPr/>
          <p:nvPr/>
        </p:nvSpPr>
        <p:spPr>
          <a:xfrm>
            <a:off x="1689100" y="819150"/>
            <a:ext cx="4624388" cy="1568450"/>
          </a:xfrm>
          <a:prstGeom prst="rect">
            <a:avLst/>
          </a:prstGeom>
          <a:noFill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 smtClean="0">
                <a:solidFill>
                  <a:srgbClr val="4A9FE8"/>
                </a:solidFill>
                <a:latin typeface="+mn-lt"/>
                <a:cs typeface="+mn-cs"/>
              </a:rPr>
              <a:t>Laiba</a:t>
            </a:r>
            <a:r>
              <a:rPr lang="en-US" sz="2000" b="1" dirty="0" smtClean="0">
                <a:solidFill>
                  <a:srgbClr val="4A9FE8"/>
                </a:solidFill>
                <a:latin typeface="+mn-lt"/>
                <a:cs typeface="+mn-cs"/>
              </a:rPr>
              <a:t> </a:t>
            </a:r>
            <a:r>
              <a:rPr lang="en-US" sz="2000" b="1" dirty="0">
                <a:solidFill>
                  <a:srgbClr val="4A9FE8"/>
                </a:solidFill>
                <a:latin typeface="+mn-lt"/>
                <a:cs typeface="+mn-cs"/>
              </a:rPr>
              <a:t>Naeem (</a:t>
            </a:r>
            <a:r>
              <a:rPr lang="en-US" sz="2000" b="1" dirty="0" smtClean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232201058)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 smtClean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Nayyab</a:t>
            </a:r>
            <a:r>
              <a:rPr lang="en-US" sz="2000" b="1" dirty="0" smtClean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 </a:t>
            </a:r>
            <a:r>
              <a:rPr lang="en-US" sz="2000" b="1" dirty="0" err="1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Gul</a:t>
            </a:r>
            <a:r>
              <a:rPr lang="en-US" sz="2000" b="1" dirty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  </a:t>
            </a:r>
            <a:r>
              <a:rPr lang="en-US" sz="2000" b="1" dirty="0" smtClean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( 232201085</a:t>
            </a:r>
            <a:r>
              <a:rPr lang="en-US" sz="2000" b="1" dirty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)</a:t>
            </a:r>
            <a:r>
              <a:rPr lang="en-US" sz="1150" b="1" dirty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 </a:t>
            </a:r>
            <a:r>
              <a:rPr lang="en-US" sz="1150" dirty="0">
                <a:solidFill>
                  <a:srgbClr val="4A9FE8"/>
                </a:solidFill>
                <a:latin typeface="+mn-lt"/>
                <a:cs typeface="+mn-cs"/>
                <a:sym typeface="+mn-ea"/>
              </a:rPr>
              <a:t> </a:t>
            </a:r>
            <a:endParaRPr lang="en-US" sz="1150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50" dirty="0">
              <a:latin typeface="+mn-lt"/>
              <a:cs typeface="+mn-cs"/>
            </a:endParaRPr>
          </a:p>
        </p:txBody>
      </p:sp>
      <p:sp>
        <p:nvSpPr>
          <p:cNvPr id="2052" name="Text 1"/>
          <p:cNvSpPr>
            <a:spLocks noChangeArrowheads="1"/>
          </p:cNvSpPr>
          <p:nvPr/>
        </p:nvSpPr>
        <p:spPr bwMode="auto">
          <a:xfrm>
            <a:off x="266700" y="2393950"/>
            <a:ext cx="77724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000" b="1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Presented To:</a:t>
            </a:r>
          </a:p>
        </p:txBody>
      </p:sp>
      <p:sp>
        <p:nvSpPr>
          <p:cNvPr id="15" name="Text 34"/>
          <p:cNvSpPr/>
          <p:nvPr/>
        </p:nvSpPr>
        <p:spPr>
          <a:xfrm>
            <a:off x="1689100" y="3675380"/>
            <a:ext cx="2921000" cy="822325"/>
          </a:xfrm>
          <a:prstGeom prst="rect">
            <a:avLst/>
          </a:prstGeom>
          <a:noFill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4A9FE8"/>
                </a:solidFill>
                <a:latin typeface="+mn-lt"/>
                <a:cs typeface="+mn-cs"/>
              </a:rPr>
              <a:t>    </a:t>
            </a:r>
            <a:endParaRPr lang="en-US" sz="1150" b="1" dirty="0">
              <a:latin typeface="+mn-lt"/>
              <a:cs typeface="+mn-cs"/>
            </a:endParaRPr>
          </a:p>
        </p:txBody>
      </p:sp>
      <p:sp>
        <p:nvSpPr>
          <p:cNvPr id="2054" name="Shape 0"/>
          <p:cNvSpPr>
            <a:spLocks noChangeArrowheads="1"/>
          </p:cNvSpPr>
          <p:nvPr/>
        </p:nvSpPr>
        <p:spPr bwMode="auto">
          <a:xfrm>
            <a:off x="0" y="-3175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3598863" y="2387600"/>
            <a:ext cx="1946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Presented By:</a:t>
            </a:r>
          </a:p>
        </p:txBody>
      </p:sp>
      <p:sp>
        <p:nvSpPr>
          <p:cNvPr id="2056" name="Rectangle 4"/>
          <p:cNvSpPr>
            <a:spLocks noChangeArrowheads="1"/>
          </p:cNvSpPr>
          <p:nvPr/>
        </p:nvSpPr>
        <p:spPr bwMode="auto">
          <a:xfrm>
            <a:off x="352425" y="193675"/>
            <a:ext cx="19446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Presented By:</a:t>
            </a:r>
          </a:p>
        </p:txBody>
      </p:sp>
      <p:sp>
        <p:nvSpPr>
          <p:cNvPr id="2057" name="Shape 0"/>
          <p:cNvSpPr>
            <a:spLocks noChangeArrowheads="1"/>
          </p:cNvSpPr>
          <p:nvPr/>
        </p:nvSpPr>
        <p:spPr bwMode="auto">
          <a:xfrm>
            <a:off x="-20639" y="3116681"/>
            <a:ext cx="9164639" cy="669256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" name="Rectangle 13"/>
          <p:cNvSpPr>
            <a:spLocks noChangeArrowheads="1"/>
          </p:cNvSpPr>
          <p:nvPr/>
        </p:nvSpPr>
        <p:spPr bwMode="auto">
          <a:xfrm>
            <a:off x="215733" y="3267159"/>
            <a:ext cx="19288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Presented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2406316" y="4007336"/>
            <a:ext cx="2959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cs typeface="Calibri" pitchFamily="34" charset="0"/>
              </a:rPr>
              <a:t>  </a:t>
            </a:r>
            <a:r>
              <a:rPr lang="en-US" b="1" dirty="0" smtClean="0">
                <a:solidFill>
                  <a:srgbClr val="0070C0"/>
                </a:solidFill>
                <a:cs typeface="Calibri" pitchFamily="34" charset="0"/>
              </a:rPr>
              <a:t>          </a:t>
            </a:r>
            <a:r>
              <a:rPr lang="en-US" dirty="0" smtClean="0">
                <a:solidFill>
                  <a:srgbClr val="0070C0"/>
                </a:solidFill>
                <a:cs typeface="Calibri" pitchFamily="34" charset="0"/>
              </a:rPr>
              <a:t>Sir </a:t>
            </a:r>
            <a:r>
              <a:rPr lang="en-US" dirty="0" err="1">
                <a:solidFill>
                  <a:srgbClr val="0070C0"/>
                </a:solidFill>
                <a:cs typeface="Calibri" pitchFamily="34" charset="0"/>
              </a:rPr>
              <a:t>Hussain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Shape 0"/>
          <p:cNvSpPr>
            <a:spLocks noChangeArrowheads="1"/>
          </p:cNvSpPr>
          <p:nvPr/>
        </p:nvSpPr>
        <p:spPr bwMode="auto">
          <a:xfrm>
            <a:off x="-20639" y="2393950"/>
            <a:ext cx="9164639" cy="437482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cs typeface="Calibri" pitchFamily="34" charset="0"/>
              </a:rPr>
              <a:t>Section</a:t>
            </a:r>
            <a:r>
              <a:rPr lang="en-US" b="1" dirty="0">
                <a:solidFill>
                  <a:schemeClr val="bg1"/>
                </a:solidFill>
                <a:cs typeface="Calibri" pitchFamily="34" charset="0"/>
              </a:rPr>
              <a:t>:  </a:t>
            </a:r>
            <a:r>
              <a:rPr lang="en-US" dirty="0">
                <a:solidFill>
                  <a:schemeClr val="bg1"/>
                </a:solidFill>
                <a:cs typeface="Calibri" pitchFamily="34" charset="0"/>
              </a:rPr>
              <a:t>BSCS-6-B</a:t>
            </a:r>
            <a:r>
              <a:rPr lang="en-US" b="1" dirty="0">
                <a:solidFill>
                  <a:schemeClr val="bg1"/>
                </a:solidFill>
                <a:cs typeface="Calibri" pitchFamily="34" charset="0"/>
              </a:rPr>
              <a:t>   |   Subject:  </a:t>
            </a:r>
            <a:r>
              <a:rPr lang="en-US" dirty="0">
                <a:solidFill>
                  <a:schemeClr val="bg1"/>
                </a:solidFill>
                <a:cs typeface="Calibri" pitchFamily="34" charset="0"/>
              </a:rPr>
              <a:t>Web Engineering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37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BrainGuide AI?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126187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BrainGuide AI is an AI-powered tutoring platform using the Socratic method — guiding students through homework with hints and questions, not direct answers. It supports 8 subjects, renders LaTeX math, generates quizzes, and provides full admin management.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6032" y="1938528"/>
            <a:ext cx="20299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938528"/>
            <a:ext cx="2029968" cy="64008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with hints &amp; questions — no direct answers given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432304" y="1938528"/>
            <a:ext cx="20299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32304" y="1938528"/>
            <a:ext cx="2029968" cy="64008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1762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3230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523744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Physics, Chemistry, Biology, Science, History, Literature, English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08576" y="1938528"/>
            <a:ext cx="20299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08576" y="1938528"/>
            <a:ext cx="2029968" cy="6400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17627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0857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00016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4-question quiz auto-generated after 8+ messages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84848" y="1938528"/>
            <a:ext cx="20299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784848" y="1938528"/>
            <a:ext cx="2029968" cy="64008"/>
          </a:xfrm>
          <a:prstGeom prst="rect">
            <a:avLst/>
          </a:prstGeom>
          <a:solidFill>
            <a:srgbClr val="5E35B1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17627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84848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76288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analytics, user &amp; session management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0085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Student Module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56032" y="896112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896112"/>
            <a:ext cx="2029968" cy="64008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1521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1097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6112" y="1408176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secure authentication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32304" y="896112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32304" y="896112"/>
            <a:ext cx="2029968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0"/>
          <p:cNvSpPr/>
          <p:nvPr/>
        </p:nvSpPr>
        <p:spPr>
          <a:xfrm>
            <a:off x="2523744" y="1078992"/>
            <a:ext cx="475488" cy="47548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896" y="115214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72384" y="1097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Subject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072384" y="1408176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academic subjects available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08576" y="896112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08576" y="896112"/>
            <a:ext cx="2029968" cy="64008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115214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48656" y="1097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Problem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48656" y="1408176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text or upload homework photo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784848" y="896112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784848" y="896112"/>
            <a:ext cx="2029968" cy="64008"/>
          </a:xfrm>
          <a:prstGeom prst="rect">
            <a:avLst/>
          </a:prstGeom>
          <a:solidFill>
            <a:srgbClr val="5E35B1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115214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24928" y="1097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Chat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424928" y="1408176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method — hints &amp; questions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56032" y="2798064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56032" y="2798064"/>
            <a:ext cx="2029968" cy="64008"/>
          </a:xfrm>
          <a:prstGeom prst="rect">
            <a:avLst/>
          </a:prstGeom>
          <a:solidFill>
            <a:srgbClr val="00796B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3054096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6112" y="29992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Rendering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96112" y="331012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equations via KaTeX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2432304" y="2798064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432304" y="2798064"/>
            <a:ext cx="2029968" cy="6400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896" y="3054096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072384" y="29992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&amp; Solution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072384" y="331012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hints or step-by-step solution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608576" y="2798064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608576" y="2798064"/>
            <a:ext cx="2029968" cy="64008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3054096"/>
            <a:ext cx="310896" cy="31089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248656" y="29992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5248656" y="331012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4-question quiz 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6784848" y="2798064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784848" y="2798064"/>
            <a:ext cx="2029968" cy="64008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3054096"/>
            <a:ext cx="310896" cy="31089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424928" y="29992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7424928" y="331012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subject &amp; status, delete sessions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480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Admin Module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56032" y="862054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868680"/>
            <a:ext cx="4114800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4356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7048"/>
            <a:ext cx="292608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32688" y="16642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users, sessions, completion %, quiz score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7472" y="2139696"/>
            <a:ext cx="3913632" cy="457200"/>
          </a:xfrm>
          <a:prstGeom prst="rect">
            <a:avLst/>
          </a:prstGeom>
          <a:solidFill>
            <a:srgbClr val="C5CAE9">
              <a:alpha val="4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365760" y="2240280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317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32688" y="24688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by subject + 7-day activity chart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47472" y="2944368"/>
            <a:ext cx="3913632" cy="457200"/>
          </a:xfrm>
          <a:prstGeom prst="rect">
            <a:avLst/>
          </a:prstGeom>
          <a:solidFill>
            <a:srgbClr val="C5CAE9">
              <a:alpha val="4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365760" y="3044952"/>
            <a:ext cx="475488" cy="475488"/>
          </a:xfrm>
          <a:prstGeom prst="ellipse">
            <a:avLst/>
          </a:prstGeom>
          <a:solidFill>
            <a:srgbClr val="5E35B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363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88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32688" y="32735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paginate, view all students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47472" y="3749040"/>
            <a:ext cx="3913632" cy="457200"/>
          </a:xfrm>
          <a:prstGeom prst="rect">
            <a:avLst/>
          </a:prstGeom>
          <a:solidFill>
            <a:srgbClr val="C5CAE9">
              <a:alpha val="4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365760" y="3849624"/>
            <a:ext cx="475488" cy="475488"/>
          </a:xfrm>
          <a:prstGeom prst="ellipse">
            <a:avLst/>
          </a:prstGeom>
          <a:solidFill>
            <a:srgbClr val="00796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41064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" y="3803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32688" y="40782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sessions filtered by subject &amp; status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553712" y="868680"/>
            <a:ext cx="43342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53712" y="868680"/>
            <a:ext cx="4334256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3"/>
          <p:cNvSpPr/>
          <p:nvPr/>
        </p:nvSpPr>
        <p:spPr>
          <a:xfrm>
            <a:off x="4645152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4553712" y="1353312"/>
            <a:ext cx="4334256" cy="2743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2" name="Text 25"/>
          <p:cNvSpPr/>
          <p:nvPr/>
        </p:nvSpPr>
        <p:spPr>
          <a:xfrm>
            <a:off x="4645152" y="1371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12648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949440" y="1371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726680" y="1371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553712" y="1682496"/>
            <a:ext cx="4334256" cy="603504"/>
          </a:xfrm>
          <a:prstGeom prst="rect">
            <a:avLst/>
          </a:prstGeom>
          <a:solidFill>
            <a:srgbClr val="EEF2FF">
              <a:alpha val="7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4645152" y="1773936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8" name="Text 31"/>
          <p:cNvSpPr/>
          <p:nvPr/>
        </p:nvSpPr>
        <p:spPr>
          <a:xfrm>
            <a:off x="4645152" y="17922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084064" y="1728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Nayyab Gul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084064" y="1984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612648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949440" y="1819656"/>
            <a:ext cx="713232" cy="256032"/>
          </a:xfrm>
          <a:prstGeom prst="rect">
            <a:avLst/>
          </a:prstGeom>
          <a:solidFill>
            <a:srgbClr val="C8F7C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949440" y="18288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1810512"/>
            <a:ext cx="237744" cy="237744"/>
          </a:xfrm>
          <a:prstGeom prst="rect">
            <a:avLst/>
          </a:prstGeom>
        </p:spPr>
      </p:pic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8432" y="1810512"/>
            <a:ext cx="237744" cy="237744"/>
          </a:xfrm>
          <a:prstGeom prst="rect">
            <a:avLst/>
          </a:prstGeom>
        </p:spPr>
      </p:pic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1810512"/>
            <a:ext cx="237744" cy="237744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4645152" y="2395728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8" name="Text 38"/>
          <p:cNvSpPr/>
          <p:nvPr/>
        </p:nvSpPr>
        <p:spPr>
          <a:xfrm>
            <a:off x="4645152" y="2414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084064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Naeem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5084064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6126480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6949440" y="2441448"/>
            <a:ext cx="713232" cy="256032"/>
          </a:xfrm>
          <a:prstGeom prst="rect">
            <a:avLst/>
          </a:prstGeom>
          <a:solidFill>
            <a:srgbClr val="C8F7C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6949440" y="24505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2432304"/>
            <a:ext cx="237744" cy="237744"/>
          </a:xfrm>
          <a:prstGeom prst="rect">
            <a:avLst/>
          </a:prstGeom>
        </p:spPr>
      </p:pic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8432" y="2432304"/>
            <a:ext cx="237744" cy="237744"/>
          </a:xfrm>
          <a:prstGeom prst="rect">
            <a:avLst/>
          </a:prstGeom>
        </p:spPr>
      </p:pic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2432304"/>
            <a:ext cx="237744" cy="237744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4553712" y="2926080"/>
            <a:ext cx="4334256" cy="603504"/>
          </a:xfrm>
          <a:prstGeom prst="rect">
            <a:avLst/>
          </a:prstGeom>
          <a:solidFill>
            <a:srgbClr val="EEF2FF">
              <a:alpha val="70000"/>
            </a:srgbClr>
          </a:solidFill>
          <a:ln/>
        </p:spPr>
      </p:sp>
      <p:sp>
        <p:nvSpPr>
          <p:cNvPr id="58" name="Shape 45"/>
          <p:cNvSpPr/>
          <p:nvPr/>
        </p:nvSpPr>
        <p:spPr>
          <a:xfrm>
            <a:off x="4645152" y="3017520"/>
            <a:ext cx="384048" cy="384048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59" name="Text 46"/>
          <p:cNvSpPr/>
          <p:nvPr/>
        </p:nvSpPr>
        <p:spPr>
          <a:xfrm>
            <a:off x="4645152" y="30358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100" dirty="0"/>
          </a:p>
        </p:txBody>
      </p:sp>
      <p:sp>
        <p:nvSpPr>
          <p:cNvPr id="60" name="Text 47"/>
          <p:cNvSpPr/>
          <p:nvPr/>
        </p:nvSpPr>
        <p:spPr>
          <a:xfrm>
            <a:off x="5084064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Khan</a:t>
            </a:r>
            <a:endParaRPr lang="en-US" sz="1100" dirty="0"/>
          </a:p>
        </p:txBody>
      </p:sp>
      <p:sp>
        <p:nvSpPr>
          <p:cNvPr id="61" name="Text 48"/>
          <p:cNvSpPr/>
          <p:nvPr/>
        </p:nvSpPr>
        <p:spPr>
          <a:xfrm>
            <a:off x="5084064" y="3227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</a:t>
            </a:r>
            <a:endParaRPr lang="en-US" sz="950" dirty="0"/>
          </a:p>
        </p:txBody>
      </p:sp>
      <p:sp>
        <p:nvSpPr>
          <p:cNvPr id="62" name="Text 49"/>
          <p:cNvSpPr/>
          <p:nvPr/>
        </p:nvSpPr>
        <p:spPr>
          <a:xfrm>
            <a:off x="6126480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3" name="Shape 50"/>
          <p:cNvSpPr/>
          <p:nvPr/>
        </p:nvSpPr>
        <p:spPr>
          <a:xfrm>
            <a:off x="6949440" y="3063240"/>
            <a:ext cx="713232" cy="256032"/>
          </a:xfrm>
          <a:prstGeom prst="rect">
            <a:avLst/>
          </a:prstGeom>
          <a:solidFill>
            <a:srgbClr val="FBDDDD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6949440" y="30723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950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3054096"/>
            <a:ext cx="237744" cy="237744"/>
          </a:xfrm>
          <a:prstGeom prst="rect">
            <a:avLst/>
          </a:prstGeom>
        </p:spPr>
      </p:pic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8432" y="3054096"/>
            <a:ext cx="237744" cy="237744"/>
          </a:xfrm>
          <a:prstGeom prst="rect">
            <a:avLst/>
          </a:prstGeom>
        </p:spPr>
      </p:pic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3054096"/>
            <a:ext cx="237744" cy="237744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4645152" y="3639312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9" name="Text 53"/>
          <p:cNvSpPr/>
          <p:nvPr/>
        </p:nvSpPr>
        <p:spPr>
          <a:xfrm>
            <a:off x="4645152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100" dirty="0"/>
          </a:p>
        </p:txBody>
      </p:sp>
      <p:sp>
        <p:nvSpPr>
          <p:cNvPr id="70" name="Text 54"/>
          <p:cNvSpPr/>
          <p:nvPr/>
        </p:nvSpPr>
        <p:spPr>
          <a:xfrm>
            <a:off x="5084064" y="3593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Raza</a:t>
            </a:r>
            <a:endParaRPr lang="en-US" sz="1100" dirty="0"/>
          </a:p>
        </p:txBody>
      </p:sp>
      <p:sp>
        <p:nvSpPr>
          <p:cNvPr id="71" name="Text 55"/>
          <p:cNvSpPr/>
          <p:nvPr/>
        </p:nvSpPr>
        <p:spPr>
          <a:xfrm>
            <a:off x="5084064" y="38496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</a:t>
            </a:r>
            <a:endParaRPr lang="en-US" sz="950" dirty="0"/>
          </a:p>
        </p:txBody>
      </p:sp>
      <p:sp>
        <p:nvSpPr>
          <p:cNvPr id="72" name="Text 56"/>
          <p:cNvSpPr/>
          <p:nvPr/>
        </p:nvSpPr>
        <p:spPr>
          <a:xfrm>
            <a:off x="6126480" y="3694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73" name="Shape 57"/>
          <p:cNvSpPr/>
          <p:nvPr/>
        </p:nvSpPr>
        <p:spPr>
          <a:xfrm>
            <a:off x="6949440" y="3685032"/>
            <a:ext cx="713232" cy="256032"/>
          </a:xfrm>
          <a:prstGeom prst="rect">
            <a:avLst/>
          </a:prstGeom>
          <a:solidFill>
            <a:srgbClr val="C8F7C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4" name="Text 58"/>
          <p:cNvSpPr/>
          <p:nvPr/>
        </p:nvSpPr>
        <p:spPr>
          <a:xfrm>
            <a:off x="6949440" y="36941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pic>
        <p:nvPicPr>
          <p:cNvPr id="75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3675888"/>
            <a:ext cx="237744" cy="237744"/>
          </a:xfrm>
          <a:prstGeom prst="rect">
            <a:avLst/>
          </a:prstGeom>
        </p:spPr>
      </p:pic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8432" y="3675888"/>
            <a:ext cx="237744" cy="237744"/>
          </a:xfrm>
          <a:prstGeom prst="rect">
            <a:avLst/>
          </a:prstGeom>
        </p:spPr>
      </p:pic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3675888"/>
            <a:ext cx="237744" cy="237744"/>
          </a:xfrm>
          <a:prstGeom prst="rect">
            <a:avLst/>
          </a:prstGeom>
        </p:spPr>
      </p:pic>
      <p:sp>
        <p:nvSpPr>
          <p:cNvPr id="78" name="Shape 59"/>
          <p:cNvSpPr/>
          <p:nvPr/>
        </p:nvSpPr>
        <p:spPr>
          <a:xfrm>
            <a:off x="4553712" y="4169664"/>
            <a:ext cx="4334256" cy="603504"/>
          </a:xfrm>
          <a:prstGeom prst="rect">
            <a:avLst/>
          </a:prstGeom>
          <a:solidFill>
            <a:srgbClr val="EEF2FF">
              <a:alpha val="70000"/>
            </a:srgbClr>
          </a:solidFill>
          <a:ln/>
        </p:spPr>
      </p:sp>
      <p:sp>
        <p:nvSpPr>
          <p:cNvPr id="79" name="Shape 60"/>
          <p:cNvSpPr/>
          <p:nvPr/>
        </p:nvSpPr>
        <p:spPr>
          <a:xfrm>
            <a:off x="4645152" y="4261104"/>
            <a:ext cx="384048" cy="384048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80" name="Text 61"/>
          <p:cNvSpPr/>
          <p:nvPr/>
        </p:nvSpPr>
        <p:spPr>
          <a:xfrm>
            <a:off x="4645152" y="4279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</a:t>
            </a:r>
            <a:endParaRPr lang="en-US" sz="1100" dirty="0"/>
          </a:p>
        </p:txBody>
      </p:sp>
      <p:sp>
        <p:nvSpPr>
          <p:cNvPr id="81" name="Text 62"/>
          <p:cNvSpPr/>
          <p:nvPr/>
        </p:nvSpPr>
        <p:spPr>
          <a:xfrm>
            <a:off x="5084064" y="4215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Mirza</a:t>
            </a:r>
            <a:endParaRPr lang="en-US" sz="1100" dirty="0"/>
          </a:p>
        </p:txBody>
      </p:sp>
      <p:sp>
        <p:nvSpPr>
          <p:cNvPr id="82" name="Text 63"/>
          <p:cNvSpPr/>
          <p:nvPr/>
        </p:nvSpPr>
        <p:spPr>
          <a:xfrm>
            <a:off x="5084064" y="4471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</a:t>
            </a:r>
            <a:endParaRPr lang="en-US" sz="950" dirty="0"/>
          </a:p>
        </p:txBody>
      </p:sp>
      <p:sp>
        <p:nvSpPr>
          <p:cNvPr id="83" name="Text 64"/>
          <p:cNvSpPr/>
          <p:nvPr/>
        </p:nvSpPr>
        <p:spPr>
          <a:xfrm>
            <a:off x="6126480" y="4315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4" name="Shape 65"/>
          <p:cNvSpPr/>
          <p:nvPr/>
        </p:nvSpPr>
        <p:spPr>
          <a:xfrm>
            <a:off x="6949440" y="4306824"/>
            <a:ext cx="713232" cy="256032"/>
          </a:xfrm>
          <a:prstGeom prst="rect">
            <a:avLst/>
          </a:prstGeom>
          <a:solidFill>
            <a:srgbClr val="FBDDDD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5" name="Text 66"/>
          <p:cNvSpPr/>
          <p:nvPr/>
        </p:nvSpPr>
        <p:spPr>
          <a:xfrm>
            <a:off x="6949440" y="43159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950" dirty="0"/>
          </a:p>
        </p:txBody>
      </p:sp>
      <p:pic>
        <p:nvPicPr>
          <p:cNvPr id="86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4297680"/>
            <a:ext cx="237744" cy="237744"/>
          </a:xfrm>
          <a:prstGeom prst="rect">
            <a:avLst/>
          </a:prstGeom>
        </p:spPr>
      </p:pic>
      <p:pic>
        <p:nvPicPr>
          <p:cNvPr id="87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8432" y="4297680"/>
            <a:ext cx="237744" cy="237744"/>
          </a:xfrm>
          <a:prstGeom prst="rect">
            <a:avLst/>
          </a:prstGeom>
        </p:spPr>
      </p:pic>
      <p:pic>
        <p:nvPicPr>
          <p:cNvPr id="88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297680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2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56032" y="89611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896112"/>
            <a:ext cx="281635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5"/>
          <p:cNvSpPr/>
          <p:nvPr/>
        </p:nvSpPr>
        <p:spPr>
          <a:xfrm>
            <a:off x="393192" y="1060704"/>
            <a:ext cx="502920" cy="502920"/>
          </a:xfrm>
          <a:prstGeom prst="ellipse">
            <a:avLst/>
          </a:prstGeom>
          <a:solidFill>
            <a:srgbClr val="1565C0">
              <a:alpha val="8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13385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0789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Tutoring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93192" y="158191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Socratic method AI that guides without giving away answers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0" y="89611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0" y="896112"/>
            <a:ext cx="2816352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Shape 10"/>
          <p:cNvSpPr/>
          <p:nvPr/>
        </p:nvSpPr>
        <p:spPr>
          <a:xfrm>
            <a:off x="3337560" y="1060704"/>
            <a:ext cx="502920" cy="502920"/>
          </a:xfrm>
          <a:prstGeom prst="ellipse">
            <a:avLst/>
          </a:prstGeom>
          <a:solidFill>
            <a:srgbClr val="00ACC1">
              <a:alpha val="80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1338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50208" y="10789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Math Rendering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37560" y="158191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KaTeX-powered equation rendering for math-heavy subjects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44768" y="89611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44768" y="896112"/>
            <a:ext cx="2816352" cy="54864"/>
          </a:xfrm>
          <a:prstGeom prst="rect">
            <a:avLst/>
          </a:prstGeom>
          <a:solidFill>
            <a:srgbClr val="5E35B1"/>
          </a:solidFill>
          <a:ln/>
        </p:spPr>
      </p:sp>
      <p:sp>
        <p:nvSpPr>
          <p:cNvPr id="20" name="Shape 15"/>
          <p:cNvSpPr/>
          <p:nvPr/>
        </p:nvSpPr>
        <p:spPr>
          <a:xfrm>
            <a:off x="6281928" y="1060704"/>
            <a:ext cx="502920" cy="502920"/>
          </a:xfrm>
          <a:prstGeom prst="ellipse">
            <a:avLst/>
          </a:prstGeom>
          <a:solidFill>
            <a:srgbClr val="5E35B1">
              <a:alpha val="80000"/>
            </a:srgbClr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338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94576" y="10789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Homework Upload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81928" y="158191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photograph and submit handwritten homework for AI analysis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56032" y="290779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56032" y="2907792"/>
            <a:ext cx="2816352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6" name="Shape 20"/>
          <p:cNvSpPr/>
          <p:nvPr/>
        </p:nvSpPr>
        <p:spPr>
          <a:xfrm>
            <a:off x="393192" y="3072384"/>
            <a:ext cx="502920" cy="502920"/>
          </a:xfrm>
          <a:prstGeom prst="ellipse">
            <a:avLst/>
          </a:prstGeom>
          <a:solidFill>
            <a:srgbClr val="FFB300">
              <a:alpha val="8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314553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309067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 Generation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3192" y="359359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4-question quiz after 8+ messages to test understanding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200400" y="290779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200400" y="2907792"/>
            <a:ext cx="28163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2" name="Shape 25"/>
          <p:cNvSpPr/>
          <p:nvPr/>
        </p:nvSpPr>
        <p:spPr>
          <a:xfrm>
            <a:off x="3337560" y="3072384"/>
            <a:ext cx="502920" cy="502920"/>
          </a:xfrm>
          <a:prstGeom prst="ellipse">
            <a:avLst/>
          </a:prstGeom>
          <a:solidFill>
            <a:srgbClr val="00897B">
              <a:alpha val="80000"/>
            </a:srgbClr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45536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950208" y="309067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337560" y="359359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charts showing subject trends and 7-day activity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44768" y="2907792"/>
            <a:ext cx="2816352" cy="1874520"/>
          </a:xfrm>
          <a:prstGeom prst="rect">
            <a:avLst/>
          </a:prstGeom>
          <a:solidFill>
            <a:srgbClr val="132044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44768" y="2907792"/>
            <a:ext cx="2816352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8" name="Shape 30"/>
          <p:cNvSpPr/>
          <p:nvPr/>
        </p:nvSpPr>
        <p:spPr>
          <a:xfrm>
            <a:off x="6281928" y="3072384"/>
            <a:ext cx="502920" cy="502920"/>
          </a:xfrm>
          <a:prstGeom prst="ellipse">
            <a:avLst/>
          </a:prstGeom>
          <a:solidFill>
            <a:srgbClr val="E53935">
              <a:alpha val="80000"/>
            </a:srgbClr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45536"/>
            <a:ext cx="329184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94576" y="309067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281928" y="3593592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 control with encrypted password storage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3037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0" y="0"/>
            <a:ext cx="9144000" cy="100647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/>
          <p:cNvSpPr>
            <a:spLocks noChangeArrowheads="1"/>
          </p:cNvSpPr>
          <p:nvPr/>
        </p:nvSpPr>
        <p:spPr bwMode="auto">
          <a:xfrm>
            <a:off x="0" y="914400"/>
            <a:ext cx="9144000" cy="92075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Text 2"/>
          <p:cNvSpPr>
            <a:spLocks noChangeArrowheads="1"/>
          </p:cNvSpPr>
          <p:nvPr/>
        </p:nvSpPr>
        <p:spPr bwMode="auto">
          <a:xfrm>
            <a:off x="365125" y="13652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3000" b="1">
                <a:solidFill>
                  <a:srgbClr val="FFFFFF"/>
                </a:solidFill>
                <a:cs typeface="Calibri" pitchFamily="34" charset="0"/>
              </a:rPr>
              <a:t>Methodology &amp; Workflow</a:t>
            </a:r>
            <a:endParaRPr lang="en-US" sz="3000"/>
          </a:p>
        </p:txBody>
      </p:sp>
      <p:sp>
        <p:nvSpPr>
          <p:cNvPr id="7173" name="Shape 3"/>
          <p:cNvSpPr>
            <a:spLocks noChangeArrowheads="1"/>
          </p:cNvSpPr>
          <p:nvPr/>
        </p:nvSpPr>
        <p:spPr bwMode="auto">
          <a:xfrm>
            <a:off x="228600" y="1189038"/>
            <a:ext cx="1050925" cy="822325"/>
          </a:xfrm>
          <a:prstGeom prst="rect">
            <a:avLst/>
          </a:prstGeom>
          <a:solidFill>
            <a:srgbClr val="0F2044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4" name="Text 4"/>
          <p:cNvSpPr>
            <a:spLocks noChangeArrowheads="1"/>
          </p:cNvSpPr>
          <p:nvPr/>
        </p:nvSpPr>
        <p:spPr bwMode="auto">
          <a:xfrm>
            <a:off x="228600" y="1189038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1</a:t>
            </a:r>
            <a:endParaRPr lang="en-US" sz="2000"/>
          </a:p>
        </p:txBody>
      </p:sp>
      <p:sp>
        <p:nvSpPr>
          <p:cNvPr id="7175" name="Text 5"/>
          <p:cNvSpPr>
            <a:spLocks noChangeArrowheads="1"/>
          </p:cNvSpPr>
          <p:nvPr/>
        </p:nvSpPr>
        <p:spPr bwMode="auto">
          <a:xfrm>
            <a:off x="228600" y="1573213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Student Login</a:t>
            </a:r>
            <a:endParaRPr lang="en-US" sz="800"/>
          </a:p>
        </p:txBody>
      </p:sp>
      <p:sp>
        <p:nvSpPr>
          <p:cNvPr id="7176" name="Text 6"/>
          <p:cNvSpPr>
            <a:spLocks noChangeArrowheads="1"/>
          </p:cNvSpPr>
          <p:nvPr/>
        </p:nvSpPr>
        <p:spPr bwMode="auto">
          <a:xfrm>
            <a:off x="136525" y="2149475"/>
            <a:ext cx="12350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JWT auth verifies credentials &amp; sets role</a:t>
            </a:r>
            <a:endParaRPr lang="en-US" sz="900"/>
          </a:p>
        </p:txBody>
      </p:sp>
      <p:sp>
        <p:nvSpPr>
          <p:cNvPr id="7177" name="Shape 7"/>
          <p:cNvSpPr>
            <a:spLocks noChangeShapeType="1"/>
          </p:cNvSpPr>
          <p:nvPr/>
        </p:nvSpPr>
        <p:spPr bwMode="auto">
          <a:xfrm>
            <a:off x="1279525" y="1600200"/>
            <a:ext cx="192088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Shape 8"/>
          <p:cNvSpPr>
            <a:spLocks noChangeArrowheads="1"/>
          </p:cNvSpPr>
          <p:nvPr/>
        </p:nvSpPr>
        <p:spPr bwMode="auto">
          <a:xfrm>
            <a:off x="1471613" y="1189038"/>
            <a:ext cx="1052512" cy="822325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/>
          <p:cNvSpPr>
            <a:spLocks noChangeArrowheads="1"/>
          </p:cNvSpPr>
          <p:nvPr/>
        </p:nvSpPr>
        <p:spPr bwMode="auto">
          <a:xfrm>
            <a:off x="1471613" y="1189038"/>
            <a:ext cx="10525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2</a:t>
            </a:r>
            <a:endParaRPr lang="en-US" sz="2000"/>
          </a:p>
        </p:txBody>
      </p:sp>
      <p:sp>
        <p:nvSpPr>
          <p:cNvPr id="7180" name="Text 10"/>
          <p:cNvSpPr>
            <a:spLocks noChangeArrowheads="1"/>
          </p:cNvSpPr>
          <p:nvPr/>
        </p:nvSpPr>
        <p:spPr bwMode="auto">
          <a:xfrm>
            <a:off x="1471613" y="1573213"/>
            <a:ext cx="10525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Select Subject</a:t>
            </a:r>
            <a:endParaRPr lang="en-US" sz="800"/>
          </a:p>
        </p:txBody>
      </p:sp>
      <p:sp>
        <p:nvSpPr>
          <p:cNvPr id="7181" name="Text 11"/>
          <p:cNvSpPr>
            <a:spLocks noChangeArrowheads="1"/>
          </p:cNvSpPr>
          <p:nvPr/>
        </p:nvSpPr>
        <p:spPr bwMode="auto">
          <a:xfrm>
            <a:off x="1381125" y="2149475"/>
            <a:ext cx="12334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Choose from 8 academic subjects</a:t>
            </a:r>
            <a:endParaRPr lang="en-US" sz="900"/>
          </a:p>
        </p:txBody>
      </p:sp>
      <p:sp>
        <p:nvSpPr>
          <p:cNvPr id="7182" name="Shape 12"/>
          <p:cNvSpPr>
            <a:spLocks noChangeShapeType="1"/>
          </p:cNvSpPr>
          <p:nvPr/>
        </p:nvSpPr>
        <p:spPr bwMode="auto">
          <a:xfrm>
            <a:off x="2524125" y="1600200"/>
            <a:ext cx="192088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Shape 13"/>
          <p:cNvSpPr>
            <a:spLocks noChangeArrowheads="1"/>
          </p:cNvSpPr>
          <p:nvPr/>
        </p:nvSpPr>
        <p:spPr bwMode="auto">
          <a:xfrm>
            <a:off x="2716213" y="1189038"/>
            <a:ext cx="1050925" cy="822325"/>
          </a:xfrm>
          <a:prstGeom prst="rect">
            <a:avLst/>
          </a:prstGeom>
          <a:solidFill>
            <a:srgbClr val="0F2044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Text 14"/>
          <p:cNvSpPr>
            <a:spLocks noChangeArrowheads="1"/>
          </p:cNvSpPr>
          <p:nvPr/>
        </p:nvSpPr>
        <p:spPr bwMode="auto">
          <a:xfrm>
            <a:off x="2716213" y="1189038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3</a:t>
            </a:r>
            <a:endParaRPr lang="en-US" sz="2000"/>
          </a:p>
        </p:txBody>
      </p:sp>
      <p:sp>
        <p:nvSpPr>
          <p:cNvPr id="7185" name="Text 15"/>
          <p:cNvSpPr>
            <a:spLocks noChangeArrowheads="1"/>
          </p:cNvSpPr>
          <p:nvPr/>
        </p:nvSpPr>
        <p:spPr bwMode="auto">
          <a:xfrm>
            <a:off x="2716213" y="1573213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Submit Problem</a:t>
            </a:r>
            <a:endParaRPr lang="en-US" sz="800"/>
          </a:p>
        </p:txBody>
      </p:sp>
      <p:sp>
        <p:nvSpPr>
          <p:cNvPr id="7186" name="Text 16"/>
          <p:cNvSpPr>
            <a:spLocks noChangeArrowheads="1"/>
          </p:cNvSpPr>
          <p:nvPr/>
        </p:nvSpPr>
        <p:spPr bwMode="auto">
          <a:xfrm>
            <a:off x="2624138" y="2149475"/>
            <a:ext cx="12350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Text input or photo upload of homework</a:t>
            </a:r>
            <a:endParaRPr lang="en-US" sz="900"/>
          </a:p>
        </p:txBody>
      </p:sp>
      <p:sp>
        <p:nvSpPr>
          <p:cNvPr id="7187" name="Shape 17"/>
          <p:cNvSpPr>
            <a:spLocks noChangeShapeType="1"/>
          </p:cNvSpPr>
          <p:nvPr/>
        </p:nvSpPr>
        <p:spPr bwMode="auto">
          <a:xfrm>
            <a:off x="3767138" y="1600200"/>
            <a:ext cx="192087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Shape 18"/>
          <p:cNvSpPr>
            <a:spLocks noChangeArrowheads="1"/>
          </p:cNvSpPr>
          <p:nvPr/>
        </p:nvSpPr>
        <p:spPr bwMode="auto">
          <a:xfrm>
            <a:off x="3959225" y="1189038"/>
            <a:ext cx="1050925" cy="822325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9" name="Text 19"/>
          <p:cNvSpPr>
            <a:spLocks noChangeArrowheads="1"/>
          </p:cNvSpPr>
          <p:nvPr/>
        </p:nvSpPr>
        <p:spPr bwMode="auto">
          <a:xfrm>
            <a:off x="3959225" y="1189038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4</a:t>
            </a:r>
            <a:endParaRPr lang="en-US" sz="2000"/>
          </a:p>
        </p:txBody>
      </p:sp>
      <p:sp>
        <p:nvSpPr>
          <p:cNvPr id="7190" name="Text 20"/>
          <p:cNvSpPr>
            <a:spLocks noChangeArrowheads="1"/>
          </p:cNvSpPr>
          <p:nvPr/>
        </p:nvSpPr>
        <p:spPr bwMode="auto">
          <a:xfrm>
            <a:off x="3959225" y="1573213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Gemini AI Processes</a:t>
            </a:r>
            <a:endParaRPr lang="en-US" sz="800"/>
          </a:p>
        </p:txBody>
      </p:sp>
      <p:sp>
        <p:nvSpPr>
          <p:cNvPr id="7191" name="Text 21"/>
          <p:cNvSpPr>
            <a:spLocks noChangeArrowheads="1"/>
          </p:cNvSpPr>
          <p:nvPr/>
        </p:nvSpPr>
        <p:spPr bwMode="auto">
          <a:xfrm>
            <a:off x="3867150" y="2149475"/>
            <a:ext cx="12350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Socratic prompt engineering guides response</a:t>
            </a:r>
            <a:endParaRPr lang="en-US" sz="900"/>
          </a:p>
        </p:txBody>
      </p:sp>
      <p:sp>
        <p:nvSpPr>
          <p:cNvPr id="7192" name="Shape 22"/>
          <p:cNvSpPr>
            <a:spLocks noChangeShapeType="1"/>
          </p:cNvSpPr>
          <p:nvPr/>
        </p:nvSpPr>
        <p:spPr bwMode="auto">
          <a:xfrm>
            <a:off x="5010150" y="1600200"/>
            <a:ext cx="192088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3" name="Shape 23"/>
          <p:cNvSpPr>
            <a:spLocks noChangeArrowheads="1"/>
          </p:cNvSpPr>
          <p:nvPr/>
        </p:nvSpPr>
        <p:spPr bwMode="auto">
          <a:xfrm>
            <a:off x="5202238" y="1189038"/>
            <a:ext cx="1052512" cy="822325"/>
          </a:xfrm>
          <a:prstGeom prst="rect">
            <a:avLst/>
          </a:prstGeom>
          <a:solidFill>
            <a:srgbClr val="0F2044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4" name="Text 24"/>
          <p:cNvSpPr>
            <a:spLocks noChangeArrowheads="1"/>
          </p:cNvSpPr>
          <p:nvPr/>
        </p:nvSpPr>
        <p:spPr bwMode="auto">
          <a:xfrm>
            <a:off x="5202238" y="1189038"/>
            <a:ext cx="10525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5</a:t>
            </a:r>
            <a:endParaRPr lang="en-US" sz="2000"/>
          </a:p>
        </p:txBody>
      </p:sp>
      <p:sp>
        <p:nvSpPr>
          <p:cNvPr id="7195" name="Text 25"/>
          <p:cNvSpPr>
            <a:spLocks noChangeArrowheads="1"/>
          </p:cNvSpPr>
          <p:nvPr/>
        </p:nvSpPr>
        <p:spPr bwMode="auto">
          <a:xfrm>
            <a:off x="5202238" y="1573213"/>
            <a:ext cx="105251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Chat &amp; Hints</a:t>
            </a:r>
            <a:endParaRPr lang="en-US" sz="800"/>
          </a:p>
        </p:txBody>
      </p:sp>
      <p:sp>
        <p:nvSpPr>
          <p:cNvPr id="7196" name="Text 26"/>
          <p:cNvSpPr>
            <a:spLocks noChangeArrowheads="1"/>
          </p:cNvSpPr>
          <p:nvPr/>
        </p:nvSpPr>
        <p:spPr bwMode="auto">
          <a:xfrm>
            <a:off x="5111750" y="2149475"/>
            <a:ext cx="12334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Student iterates with AI hints &amp; questions</a:t>
            </a:r>
            <a:endParaRPr lang="en-US" sz="900"/>
          </a:p>
        </p:txBody>
      </p:sp>
      <p:sp>
        <p:nvSpPr>
          <p:cNvPr id="7197" name="Shape 27"/>
          <p:cNvSpPr>
            <a:spLocks noChangeShapeType="1"/>
          </p:cNvSpPr>
          <p:nvPr/>
        </p:nvSpPr>
        <p:spPr bwMode="auto">
          <a:xfrm>
            <a:off x="6254750" y="1600200"/>
            <a:ext cx="192088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Shape 28"/>
          <p:cNvSpPr>
            <a:spLocks noChangeArrowheads="1"/>
          </p:cNvSpPr>
          <p:nvPr/>
        </p:nvSpPr>
        <p:spPr bwMode="auto">
          <a:xfrm>
            <a:off x="6446838" y="1189038"/>
            <a:ext cx="1050925" cy="822325"/>
          </a:xfrm>
          <a:prstGeom prst="rect">
            <a:avLst/>
          </a:prstGeom>
          <a:solidFill>
            <a:srgbClr val="1A3A6B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9" name="Text 29"/>
          <p:cNvSpPr>
            <a:spLocks noChangeArrowheads="1"/>
          </p:cNvSpPr>
          <p:nvPr/>
        </p:nvSpPr>
        <p:spPr bwMode="auto">
          <a:xfrm>
            <a:off x="6446838" y="1189038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6</a:t>
            </a:r>
            <a:endParaRPr lang="en-US" sz="2000"/>
          </a:p>
        </p:txBody>
      </p:sp>
      <p:sp>
        <p:nvSpPr>
          <p:cNvPr id="7200" name="Text 30"/>
          <p:cNvSpPr>
            <a:spLocks noChangeArrowheads="1"/>
          </p:cNvSpPr>
          <p:nvPr/>
        </p:nvSpPr>
        <p:spPr bwMode="auto">
          <a:xfrm>
            <a:off x="6446838" y="1573213"/>
            <a:ext cx="10509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Quiz Generated</a:t>
            </a:r>
            <a:endParaRPr lang="en-US" sz="800"/>
          </a:p>
        </p:txBody>
      </p:sp>
      <p:sp>
        <p:nvSpPr>
          <p:cNvPr id="7201" name="Text 31"/>
          <p:cNvSpPr>
            <a:spLocks noChangeArrowheads="1"/>
          </p:cNvSpPr>
          <p:nvPr/>
        </p:nvSpPr>
        <p:spPr bwMode="auto">
          <a:xfrm>
            <a:off x="6354763" y="2149475"/>
            <a:ext cx="12350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Auto 4-question quiz after 8+ messages</a:t>
            </a:r>
            <a:endParaRPr lang="en-US" sz="900"/>
          </a:p>
        </p:txBody>
      </p:sp>
      <p:sp>
        <p:nvSpPr>
          <p:cNvPr id="7202" name="Shape 32"/>
          <p:cNvSpPr>
            <a:spLocks noChangeShapeType="1"/>
          </p:cNvSpPr>
          <p:nvPr/>
        </p:nvSpPr>
        <p:spPr bwMode="auto">
          <a:xfrm>
            <a:off x="7497763" y="1600200"/>
            <a:ext cx="192087" cy="0"/>
          </a:xfrm>
          <a:prstGeom prst="line">
            <a:avLst/>
          </a:prstGeom>
          <a:noFill/>
          <a:ln w="25400">
            <a:solidFill>
              <a:srgbClr val="4F8E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Shape 33"/>
          <p:cNvSpPr>
            <a:spLocks noChangeArrowheads="1"/>
          </p:cNvSpPr>
          <p:nvPr/>
        </p:nvSpPr>
        <p:spPr bwMode="auto">
          <a:xfrm>
            <a:off x="7689850" y="1189038"/>
            <a:ext cx="1052513" cy="822325"/>
          </a:xfrm>
          <a:prstGeom prst="rect">
            <a:avLst/>
          </a:prstGeom>
          <a:solidFill>
            <a:srgbClr val="0F2044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4" name="Text 34"/>
          <p:cNvSpPr>
            <a:spLocks noChangeArrowheads="1"/>
          </p:cNvSpPr>
          <p:nvPr/>
        </p:nvSpPr>
        <p:spPr bwMode="auto">
          <a:xfrm>
            <a:off x="7689850" y="1189038"/>
            <a:ext cx="1052513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D166"/>
                </a:solidFill>
              </a:rPr>
              <a:t>7</a:t>
            </a:r>
            <a:endParaRPr lang="en-US" sz="2000"/>
          </a:p>
        </p:txBody>
      </p:sp>
      <p:sp>
        <p:nvSpPr>
          <p:cNvPr id="7205" name="Text 35"/>
          <p:cNvSpPr>
            <a:spLocks noChangeArrowheads="1"/>
          </p:cNvSpPr>
          <p:nvPr/>
        </p:nvSpPr>
        <p:spPr bwMode="auto">
          <a:xfrm>
            <a:off x="7689850" y="1573213"/>
            <a:ext cx="1052513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Results Saved</a:t>
            </a:r>
            <a:endParaRPr lang="en-US" sz="800"/>
          </a:p>
        </p:txBody>
      </p:sp>
      <p:sp>
        <p:nvSpPr>
          <p:cNvPr id="7206" name="Text 36"/>
          <p:cNvSpPr>
            <a:spLocks noChangeArrowheads="1"/>
          </p:cNvSpPr>
          <p:nvPr/>
        </p:nvSpPr>
        <p:spPr bwMode="auto">
          <a:xfrm>
            <a:off x="7599363" y="2149475"/>
            <a:ext cx="1233487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64748B"/>
                </a:solidFill>
                <a:cs typeface="Calibri" pitchFamily="34" charset="0"/>
              </a:rPr>
              <a:t>Session stored in MongoDB for admin view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228600" y="301783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08" name="Shape 38"/>
          <p:cNvSpPr>
            <a:spLocks noChangeArrowheads="1"/>
          </p:cNvSpPr>
          <p:nvPr/>
        </p:nvSpPr>
        <p:spPr bwMode="auto">
          <a:xfrm>
            <a:off x="228600" y="3017838"/>
            <a:ext cx="411480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9" name="Text 39"/>
          <p:cNvSpPr>
            <a:spLocks noChangeArrowheads="1"/>
          </p:cNvSpPr>
          <p:nvPr/>
        </p:nvSpPr>
        <p:spPr bwMode="auto">
          <a:xfrm>
            <a:off x="320675" y="3044825"/>
            <a:ext cx="39306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300" b="1">
                <a:solidFill>
                  <a:srgbClr val="FFFFFF"/>
                </a:solidFill>
              </a:rPr>
              <a:t>✅ Functional Requirements</a:t>
            </a:r>
            <a:endParaRPr lang="en-US" sz="1300"/>
          </a:p>
        </p:txBody>
      </p:sp>
      <p:sp>
        <p:nvSpPr>
          <p:cNvPr id="7210" name="Shape 40"/>
          <p:cNvSpPr>
            <a:spLocks noChangeArrowheads="1"/>
          </p:cNvSpPr>
          <p:nvPr/>
        </p:nvSpPr>
        <p:spPr bwMode="auto">
          <a:xfrm>
            <a:off x="365125" y="3594100"/>
            <a:ext cx="111125" cy="10953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1" name="Text 41"/>
          <p:cNvSpPr>
            <a:spLocks noChangeArrowheads="1"/>
          </p:cNvSpPr>
          <p:nvPr/>
        </p:nvSpPr>
        <p:spPr bwMode="auto">
          <a:xfrm>
            <a:off x="549275" y="3538538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User registration, login, profile management</a:t>
            </a:r>
            <a:endParaRPr lang="en-US" sz="1000"/>
          </a:p>
        </p:txBody>
      </p:sp>
      <p:sp>
        <p:nvSpPr>
          <p:cNvPr id="7212" name="Shape 42"/>
          <p:cNvSpPr>
            <a:spLocks noChangeArrowheads="1"/>
          </p:cNvSpPr>
          <p:nvPr/>
        </p:nvSpPr>
        <p:spPr bwMode="auto">
          <a:xfrm>
            <a:off x="365125" y="3849688"/>
            <a:ext cx="111125" cy="109537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3" name="Text 43"/>
          <p:cNvSpPr>
            <a:spLocks noChangeArrowheads="1"/>
          </p:cNvSpPr>
          <p:nvPr/>
        </p:nvSpPr>
        <p:spPr bwMode="auto">
          <a:xfrm>
            <a:off x="549275" y="3794125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AI chat with Gemini, hint &amp; solution modes</a:t>
            </a:r>
            <a:endParaRPr lang="en-US" sz="1000"/>
          </a:p>
        </p:txBody>
      </p:sp>
      <p:sp>
        <p:nvSpPr>
          <p:cNvPr id="7214" name="Shape 44"/>
          <p:cNvSpPr>
            <a:spLocks noChangeArrowheads="1"/>
          </p:cNvSpPr>
          <p:nvPr/>
        </p:nvSpPr>
        <p:spPr bwMode="auto">
          <a:xfrm>
            <a:off x="365125" y="4105275"/>
            <a:ext cx="111125" cy="10953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5" name="Text 45"/>
          <p:cNvSpPr>
            <a:spLocks noChangeArrowheads="1"/>
          </p:cNvSpPr>
          <p:nvPr/>
        </p:nvSpPr>
        <p:spPr bwMode="auto">
          <a:xfrm>
            <a:off x="549275" y="4051300"/>
            <a:ext cx="36576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Photo homework upload &amp; processing</a:t>
            </a:r>
            <a:endParaRPr lang="en-US" sz="1000"/>
          </a:p>
        </p:txBody>
      </p:sp>
      <p:sp>
        <p:nvSpPr>
          <p:cNvPr id="7216" name="Shape 46"/>
          <p:cNvSpPr>
            <a:spLocks noChangeArrowheads="1"/>
          </p:cNvSpPr>
          <p:nvPr/>
        </p:nvSpPr>
        <p:spPr bwMode="auto">
          <a:xfrm>
            <a:off x="365125" y="4362450"/>
            <a:ext cx="111125" cy="10953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7" name="Text 47"/>
          <p:cNvSpPr>
            <a:spLocks noChangeArrowheads="1"/>
          </p:cNvSpPr>
          <p:nvPr/>
        </p:nvSpPr>
        <p:spPr bwMode="auto">
          <a:xfrm>
            <a:off x="549275" y="4306888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Quiz generation, submission &amp; scoring</a:t>
            </a:r>
            <a:endParaRPr lang="en-US" sz="1000"/>
          </a:p>
        </p:txBody>
      </p:sp>
      <p:sp>
        <p:nvSpPr>
          <p:cNvPr id="7218" name="Shape 48"/>
          <p:cNvSpPr>
            <a:spLocks noChangeArrowheads="1"/>
          </p:cNvSpPr>
          <p:nvPr/>
        </p:nvSpPr>
        <p:spPr bwMode="auto">
          <a:xfrm>
            <a:off x="365125" y="4618038"/>
            <a:ext cx="111125" cy="109537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9" name="Text 49"/>
          <p:cNvSpPr>
            <a:spLocks noChangeArrowheads="1"/>
          </p:cNvSpPr>
          <p:nvPr/>
        </p:nvSpPr>
        <p:spPr bwMode="auto">
          <a:xfrm>
            <a:off x="549275" y="4562475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Admin: user management, stats, session logs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4800600" y="301783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21" name="Shape 51"/>
          <p:cNvSpPr>
            <a:spLocks noChangeArrowheads="1"/>
          </p:cNvSpPr>
          <p:nvPr/>
        </p:nvSpPr>
        <p:spPr bwMode="auto">
          <a:xfrm>
            <a:off x="4800600" y="3017838"/>
            <a:ext cx="41148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2" name="Text 52"/>
          <p:cNvSpPr>
            <a:spLocks noChangeArrowheads="1"/>
          </p:cNvSpPr>
          <p:nvPr/>
        </p:nvSpPr>
        <p:spPr bwMode="auto">
          <a:xfrm>
            <a:off x="4892675" y="3044825"/>
            <a:ext cx="39306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300" b="1">
                <a:solidFill>
                  <a:srgbClr val="FFFFFF"/>
                </a:solidFill>
              </a:rPr>
              <a:t>⚡ Non-Functional Requirements</a:t>
            </a:r>
            <a:endParaRPr lang="en-US" sz="1300"/>
          </a:p>
        </p:txBody>
      </p:sp>
      <p:sp>
        <p:nvSpPr>
          <p:cNvPr id="7223" name="Shape 53"/>
          <p:cNvSpPr>
            <a:spLocks noChangeArrowheads="1"/>
          </p:cNvSpPr>
          <p:nvPr/>
        </p:nvSpPr>
        <p:spPr bwMode="auto">
          <a:xfrm>
            <a:off x="4937125" y="3594100"/>
            <a:ext cx="111125" cy="10953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4" name="Text 54"/>
          <p:cNvSpPr>
            <a:spLocks noChangeArrowheads="1"/>
          </p:cNvSpPr>
          <p:nvPr/>
        </p:nvSpPr>
        <p:spPr bwMode="auto">
          <a:xfrm>
            <a:off x="5121275" y="3538538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Performance: API response under 3 seconds</a:t>
            </a:r>
            <a:endParaRPr lang="en-US" sz="1000"/>
          </a:p>
        </p:txBody>
      </p:sp>
      <p:sp>
        <p:nvSpPr>
          <p:cNvPr id="7225" name="Shape 55"/>
          <p:cNvSpPr>
            <a:spLocks noChangeArrowheads="1"/>
          </p:cNvSpPr>
          <p:nvPr/>
        </p:nvSpPr>
        <p:spPr bwMode="auto">
          <a:xfrm>
            <a:off x="4937125" y="3849688"/>
            <a:ext cx="111125" cy="109537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6" name="Text 56"/>
          <p:cNvSpPr>
            <a:spLocks noChangeArrowheads="1"/>
          </p:cNvSpPr>
          <p:nvPr/>
        </p:nvSpPr>
        <p:spPr bwMode="auto">
          <a:xfrm>
            <a:off x="5121275" y="3794125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Security: JWT tokens + bcrypt password hashing</a:t>
            </a:r>
            <a:endParaRPr lang="en-US" sz="1000"/>
          </a:p>
        </p:txBody>
      </p:sp>
      <p:sp>
        <p:nvSpPr>
          <p:cNvPr id="7227" name="Shape 57"/>
          <p:cNvSpPr>
            <a:spLocks noChangeArrowheads="1"/>
          </p:cNvSpPr>
          <p:nvPr/>
        </p:nvSpPr>
        <p:spPr bwMode="auto">
          <a:xfrm>
            <a:off x="4937125" y="4105275"/>
            <a:ext cx="111125" cy="10953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8" name="Text 58"/>
          <p:cNvSpPr>
            <a:spLocks noChangeArrowheads="1"/>
          </p:cNvSpPr>
          <p:nvPr/>
        </p:nvSpPr>
        <p:spPr bwMode="auto">
          <a:xfrm>
            <a:off x="5121275" y="4051300"/>
            <a:ext cx="36576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Scalability: MongoDB handles growing user base</a:t>
            </a:r>
            <a:endParaRPr lang="en-US" sz="1000"/>
          </a:p>
        </p:txBody>
      </p:sp>
      <p:sp>
        <p:nvSpPr>
          <p:cNvPr id="7229" name="Shape 59"/>
          <p:cNvSpPr>
            <a:spLocks noChangeArrowheads="1"/>
          </p:cNvSpPr>
          <p:nvPr/>
        </p:nvSpPr>
        <p:spPr bwMode="auto">
          <a:xfrm>
            <a:off x="4937125" y="4362450"/>
            <a:ext cx="111125" cy="10953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30" name="Text 60"/>
          <p:cNvSpPr>
            <a:spLocks noChangeArrowheads="1"/>
          </p:cNvSpPr>
          <p:nvPr/>
        </p:nvSpPr>
        <p:spPr bwMode="auto">
          <a:xfrm>
            <a:off x="5121275" y="4306888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Usability: Responsive UI across all devices</a:t>
            </a:r>
            <a:endParaRPr lang="en-US" sz="1000"/>
          </a:p>
        </p:txBody>
      </p:sp>
      <p:sp>
        <p:nvSpPr>
          <p:cNvPr id="7231" name="Shape 61"/>
          <p:cNvSpPr>
            <a:spLocks noChangeArrowheads="1"/>
          </p:cNvSpPr>
          <p:nvPr/>
        </p:nvSpPr>
        <p:spPr bwMode="auto">
          <a:xfrm>
            <a:off x="4937125" y="4618038"/>
            <a:ext cx="111125" cy="109537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32" name="Text 62"/>
          <p:cNvSpPr>
            <a:spLocks noChangeArrowheads="1"/>
          </p:cNvSpPr>
          <p:nvPr/>
        </p:nvSpPr>
        <p:spPr bwMode="auto">
          <a:xfrm>
            <a:off x="5121275" y="4562475"/>
            <a:ext cx="3657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000">
                <a:solidFill>
                  <a:srgbClr val="1E293B"/>
                </a:solidFill>
                <a:cs typeface="Calibri" pitchFamily="34" charset="0"/>
              </a:rPr>
              <a:t>Reliability: Rate limiting + Helmet security headers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Shape 4"/>
          <p:cNvSpPr>
            <a:spLocks noChangeArrowheads="1"/>
          </p:cNvSpPr>
          <p:nvPr/>
        </p:nvSpPr>
        <p:spPr bwMode="auto">
          <a:xfrm>
            <a:off x="228600" y="960438"/>
            <a:ext cx="2697163" cy="3703637"/>
          </a:xfrm>
          <a:prstGeom prst="rect">
            <a:avLst/>
          </a:prstGeom>
          <a:solidFill>
            <a:srgbClr val="1A3A6B">
              <a:alpha val="74901"/>
            </a:srgbClr>
          </a:solidFill>
          <a:ln w="12700">
            <a:solidFill>
              <a:srgbClr val="4F8EF7">
                <a:alpha val="7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Shape 5"/>
          <p:cNvSpPr>
            <a:spLocks noChangeArrowheads="1"/>
          </p:cNvSpPr>
          <p:nvPr/>
        </p:nvSpPr>
        <p:spPr bwMode="auto">
          <a:xfrm>
            <a:off x="228600" y="960438"/>
            <a:ext cx="2697163" cy="547687"/>
          </a:xfrm>
          <a:prstGeom prst="rect">
            <a:avLst/>
          </a:prstGeom>
          <a:solidFill>
            <a:srgbClr val="1A3A6B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Shape 6"/>
          <p:cNvSpPr>
            <a:spLocks noChangeArrowheads="1"/>
          </p:cNvSpPr>
          <p:nvPr/>
        </p:nvSpPr>
        <p:spPr bwMode="auto">
          <a:xfrm>
            <a:off x="228600" y="960438"/>
            <a:ext cx="73025" cy="3703637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Text 7"/>
          <p:cNvSpPr>
            <a:spLocks noChangeArrowheads="1"/>
          </p:cNvSpPr>
          <p:nvPr/>
        </p:nvSpPr>
        <p:spPr bwMode="auto">
          <a:xfrm>
            <a:off x="365125" y="987425"/>
            <a:ext cx="24241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500" b="1">
                <a:solidFill>
                  <a:srgbClr val="FFFFFF"/>
                </a:solidFill>
                <a:cs typeface="Calibri" pitchFamily="34" charset="0"/>
              </a:rPr>
              <a:t>Frontend</a:t>
            </a:r>
            <a:endParaRPr lang="en-US" sz="1500"/>
          </a:p>
        </p:txBody>
      </p:sp>
      <p:sp>
        <p:nvSpPr>
          <p:cNvPr id="8201" name="Shape 8"/>
          <p:cNvSpPr>
            <a:spLocks noChangeArrowheads="1"/>
          </p:cNvSpPr>
          <p:nvPr/>
        </p:nvSpPr>
        <p:spPr bwMode="auto">
          <a:xfrm>
            <a:off x="411163" y="1663700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Text 9"/>
          <p:cNvSpPr>
            <a:spLocks noChangeArrowheads="1"/>
          </p:cNvSpPr>
          <p:nvPr/>
        </p:nvSpPr>
        <p:spPr bwMode="auto">
          <a:xfrm>
            <a:off x="503238" y="1663700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React.js 18</a:t>
            </a:r>
            <a:endParaRPr lang="en-US" sz="1100"/>
          </a:p>
        </p:txBody>
      </p:sp>
      <p:sp>
        <p:nvSpPr>
          <p:cNvPr id="8203" name="Shape 10"/>
          <p:cNvSpPr>
            <a:spLocks noChangeArrowheads="1"/>
          </p:cNvSpPr>
          <p:nvPr/>
        </p:nvSpPr>
        <p:spPr bwMode="auto">
          <a:xfrm>
            <a:off x="411163" y="2149475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Text 11"/>
          <p:cNvSpPr>
            <a:spLocks noChangeArrowheads="1"/>
          </p:cNvSpPr>
          <p:nvPr/>
        </p:nvSpPr>
        <p:spPr bwMode="auto">
          <a:xfrm>
            <a:off x="503238" y="2149475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React Router v6</a:t>
            </a:r>
            <a:endParaRPr lang="en-US" sz="1100"/>
          </a:p>
        </p:txBody>
      </p:sp>
      <p:sp>
        <p:nvSpPr>
          <p:cNvPr id="8205" name="Shape 12"/>
          <p:cNvSpPr>
            <a:spLocks noChangeArrowheads="1"/>
          </p:cNvSpPr>
          <p:nvPr/>
        </p:nvSpPr>
        <p:spPr bwMode="auto">
          <a:xfrm>
            <a:off x="411163" y="2633663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Text 13"/>
          <p:cNvSpPr>
            <a:spLocks noChangeArrowheads="1"/>
          </p:cNvSpPr>
          <p:nvPr/>
        </p:nvSpPr>
        <p:spPr bwMode="auto">
          <a:xfrm>
            <a:off x="503238" y="2633663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Custom CSS (Dark Theme)</a:t>
            </a:r>
            <a:endParaRPr lang="en-US" sz="1100"/>
          </a:p>
        </p:txBody>
      </p:sp>
      <p:sp>
        <p:nvSpPr>
          <p:cNvPr id="8207" name="Shape 14"/>
          <p:cNvSpPr>
            <a:spLocks noChangeArrowheads="1"/>
          </p:cNvSpPr>
          <p:nvPr/>
        </p:nvSpPr>
        <p:spPr bwMode="auto">
          <a:xfrm>
            <a:off x="411163" y="3117850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Text 15"/>
          <p:cNvSpPr>
            <a:spLocks noChangeArrowheads="1"/>
          </p:cNvSpPr>
          <p:nvPr/>
        </p:nvSpPr>
        <p:spPr bwMode="auto">
          <a:xfrm>
            <a:off x="503238" y="3117850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Axios HTTP Client</a:t>
            </a:r>
            <a:endParaRPr lang="en-US" sz="1100"/>
          </a:p>
        </p:txBody>
      </p:sp>
      <p:sp>
        <p:nvSpPr>
          <p:cNvPr id="8209" name="Shape 16"/>
          <p:cNvSpPr>
            <a:spLocks noChangeArrowheads="1"/>
          </p:cNvSpPr>
          <p:nvPr/>
        </p:nvSpPr>
        <p:spPr bwMode="auto">
          <a:xfrm>
            <a:off x="411163" y="3602038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Text 17"/>
          <p:cNvSpPr>
            <a:spLocks noChangeArrowheads="1"/>
          </p:cNvSpPr>
          <p:nvPr/>
        </p:nvSpPr>
        <p:spPr bwMode="auto">
          <a:xfrm>
            <a:off x="503238" y="3602038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KaTeX (Math Rendering)</a:t>
            </a:r>
            <a:endParaRPr lang="en-US" sz="1100"/>
          </a:p>
        </p:txBody>
      </p:sp>
      <p:sp>
        <p:nvSpPr>
          <p:cNvPr id="8211" name="Shape 18"/>
          <p:cNvSpPr>
            <a:spLocks noChangeArrowheads="1"/>
          </p:cNvSpPr>
          <p:nvPr/>
        </p:nvSpPr>
        <p:spPr bwMode="auto">
          <a:xfrm>
            <a:off x="411163" y="4087813"/>
            <a:ext cx="2332037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4F8EF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2" name="Text 19"/>
          <p:cNvSpPr>
            <a:spLocks noChangeArrowheads="1"/>
          </p:cNvSpPr>
          <p:nvPr/>
        </p:nvSpPr>
        <p:spPr bwMode="auto">
          <a:xfrm>
            <a:off x="503238" y="4087813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React Hot Toast</a:t>
            </a:r>
            <a:endParaRPr lang="en-US" sz="1100"/>
          </a:p>
        </p:txBody>
      </p:sp>
      <p:sp>
        <p:nvSpPr>
          <p:cNvPr id="8213" name="Shape 20"/>
          <p:cNvSpPr>
            <a:spLocks noChangeArrowheads="1"/>
          </p:cNvSpPr>
          <p:nvPr/>
        </p:nvSpPr>
        <p:spPr bwMode="auto">
          <a:xfrm>
            <a:off x="3154363" y="960438"/>
            <a:ext cx="2697162" cy="3703637"/>
          </a:xfrm>
          <a:prstGeom prst="rect">
            <a:avLst/>
          </a:prstGeom>
          <a:solidFill>
            <a:srgbClr val="1A3A6B">
              <a:alpha val="74901"/>
            </a:srgbClr>
          </a:solidFill>
          <a:ln w="12700">
            <a:solidFill>
              <a:srgbClr val="00C9A7">
                <a:alpha val="7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4" name="Shape 21"/>
          <p:cNvSpPr>
            <a:spLocks noChangeArrowheads="1"/>
          </p:cNvSpPr>
          <p:nvPr/>
        </p:nvSpPr>
        <p:spPr bwMode="auto">
          <a:xfrm>
            <a:off x="3154363" y="960438"/>
            <a:ext cx="2697162" cy="547687"/>
          </a:xfrm>
          <a:prstGeom prst="rect">
            <a:avLst/>
          </a:prstGeom>
          <a:solidFill>
            <a:srgbClr val="007B6A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5" name="Shape 22"/>
          <p:cNvSpPr>
            <a:spLocks noChangeArrowheads="1"/>
          </p:cNvSpPr>
          <p:nvPr/>
        </p:nvSpPr>
        <p:spPr bwMode="auto">
          <a:xfrm>
            <a:off x="3154363" y="960438"/>
            <a:ext cx="73025" cy="3703637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6" name="Text 23"/>
          <p:cNvSpPr>
            <a:spLocks noChangeArrowheads="1"/>
          </p:cNvSpPr>
          <p:nvPr/>
        </p:nvSpPr>
        <p:spPr bwMode="auto">
          <a:xfrm>
            <a:off x="3292475" y="987425"/>
            <a:ext cx="2422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500" b="1">
                <a:solidFill>
                  <a:srgbClr val="FFFFFF"/>
                </a:solidFill>
                <a:cs typeface="Calibri" pitchFamily="34" charset="0"/>
              </a:rPr>
              <a:t>Backend</a:t>
            </a:r>
            <a:endParaRPr lang="en-US" sz="1500"/>
          </a:p>
        </p:txBody>
      </p:sp>
      <p:sp>
        <p:nvSpPr>
          <p:cNvPr id="8217" name="Shape 24"/>
          <p:cNvSpPr>
            <a:spLocks noChangeArrowheads="1"/>
          </p:cNvSpPr>
          <p:nvPr/>
        </p:nvSpPr>
        <p:spPr bwMode="auto">
          <a:xfrm>
            <a:off x="3336925" y="1663700"/>
            <a:ext cx="2332038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00C9A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8" name="Text 25"/>
          <p:cNvSpPr>
            <a:spLocks noChangeArrowheads="1"/>
          </p:cNvSpPr>
          <p:nvPr/>
        </p:nvSpPr>
        <p:spPr bwMode="auto">
          <a:xfrm>
            <a:off x="3429000" y="1663700"/>
            <a:ext cx="22399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Node.js</a:t>
            </a:r>
            <a:endParaRPr lang="en-US" sz="1100"/>
          </a:p>
        </p:txBody>
      </p:sp>
      <p:sp>
        <p:nvSpPr>
          <p:cNvPr id="8221" name="Shape 28"/>
          <p:cNvSpPr>
            <a:spLocks noChangeArrowheads="1"/>
          </p:cNvSpPr>
          <p:nvPr/>
        </p:nvSpPr>
        <p:spPr bwMode="auto">
          <a:xfrm>
            <a:off x="3336925" y="2633663"/>
            <a:ext cx="2332038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00C9A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2" name="Text 29"/>
          <p:cNvSpPr>
            <a:spLocks noChangeArrowheads="1"/>
          </p:cNvSpPr>
          <p:nvPr/>
        </p:nvSpPr>
        <p:spPr bwMode="auto">
          <a:xfrm>
            <a:off x="3429000" y="2633663"/>
            <a:ext cx="22399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JWT (jsonwebtoken)</a:t>
            </a:r>
            <a:endParaRPr lang="en-US" sz="1100"/>
          </a:p>
        </p:txBody>
      </p:sp>
      <p:sp>
        <p:nvSpPr>
          <p:cNvPr id="8223" name="Shape 30"/>
          <p:cNvSpPr>
            <a:spLocks noChangeArrowheads="1"/>
          </p:cNvSpPr>
          <p:nvPr/>
        </p:nvSpPr>
        <p:spPr bwMode="auto">
          <a:xfrm>
            <a:off x="3336925" y="3117850"/>
            <a:ext cx="2332038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00C9A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4" name="Text 31"/>
          <p:cNvSpPr>
            <a:spLocks noChangeArrowheads="1"/>
          </p:cNvSpPr>
          <p:nvPr/>
        </p:nvSpPr>
        <p:spPr bwMode="auto">
          <a:xfrm>
            <a:off x="3429000" y="3117850"/>
            <a:ext cx="22399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bcryptjs</a:t>
            </a:r>
            <a:endParaRPr lang="en-US" sz="1100"/>
          </a:p>
        </p:txBody>
      </p:sp>
      <p:sp>
        <p:nvSpPr>
          <p:cNvPr id="8225" name="Shape 32"/>
          <p:cNvSpPr>
            <a:spLocks noChangeArrowheads="1"/>
          </p:cNvSpPr>
          <p:nvPr/>
        </p:nvSpPr>
        <p:spPr bwMode="auto">
          <a:xfrm>
            <a:off x="3336925" y="3602038"/>
            <a:ext cx="2332038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00C9A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6" name="Text 33"/>
          <p:cNvSpPr>
            <a:spLocks noChangeArrowheads="1"/>
          </p:cNvSpPr>
          <p:nvPr/>
        </p:nvSpPr>
        <p:spPr bwMode="auto">
          <a:xfrm>
            <a:off x="3429000" y="3602038"/>
            <a:ext cx="22399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Helmet + CORS</a:t>
            </a:r>
            <a:endParaRPr lang="en-US" sz="1100"/>
          </a:p>
        </p:txBody>
      </p:sp>
      <p:sp>
        <p:nvSpPr>
          <p:cNvPr id="8227" name="Shape 34"/>
          <p:cNvSpPr>
            <a:spLocks noChangeArrowheads="1"/>
          </p:cNvSpPr>
          <p:nvPr/>
        </p:nvSpPr>
        <p:spPr bwMode="auto">
          <a:xfrm>
            <a:off x="3336925" y="4087813"/>
            <a:ext cx="2332038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00C9A7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8" name="Text 35"/>
          <p:cNvSpPr>
            <a:spLocks noChangeArrowheads="1"/>
          </p:cNvSpPr>
          <p:nvPr/>
        </p:nvSpPr>
        <p:spPr bwMode="auto">
          <a:xfrm>
            <a:off x="3429000" y="4087813"/>
            <a:ext cx="22399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Rate Limiting</a:t>
            </a:r>
            <a:endParaRPr lang="en-US" sz="1100"/>
          </a:p>
        </p:txBody>
      </p:sp>
      <p:sp>
        <p:nvSpPr>
          <p:cNvPr id="8229" name="Shape 36"/>
          <p:cNvSpPr>
            <a:spLocks noChangeArrowheads="1"/>
          </p:cNvSpPr>
          <p:nvPr/>
        </p:nvSpPr>
        <p:spPr bwMode="auto">
          <a:xfrm>
            <a:off x="6080125" y="960438"/>
            <a:ext cx="2698750" cy="3703637"/>
          </a:xfrm>
          <a:prstGeom prst="rect">
            <a:avLst/>
          </a:prstGeom>
          <a:solidFill>
            <a:srgbClr val="1A3A6B">
              <a:alpha val="74901"/>
            </a:srgbClr>
          </a:solidFill>
          <a:ln w="12700">
            <a:solidFill>
              <a:srgbClr val="FFD166">
                <a:alpha val="7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0" name="Shape 37"/>
          <p:cNvSpPr>
            <a:spLocks noChangeArrowheads="1"/>
          </p:cNvSpPr>
          <p:nvPr/>
        </p:nvSpPr>
        <p:spPr bwMode="auto">
          <a:xfrm>
            <a:off x="6080125" y="960438"/>
            <a:ext cx="2698750" cy="547687"/>
          </a:xfrm>
          <a:prstGeom prst="rect">
            <a:avLst/>
          </a:prstGeom>
          <a:solidFill>
            <a:srgbClr val="A07B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1" name="Shape 38"/>
          <p:cNvSpPr>
            <a:spLocks noChangeArrowheads="1"/>
          </p:cNvSpPr>
          <p:nvPr/>
        </p:nvSpPr>
        <p:spPr bwMode="auto">
          <a:xfrm>
            <a:off x="6080125" y="960438"/>
            <a:ext cx="73025" cy="370363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2" name="Text 39"/>
          <p:cNvSpPr>
            <a:spLocks noChangeArrowheads="1"/>
          </p:cNvSpPr>
          <p:nvPr/>
        </p:nvSpPr>
        <p:spPr bwMode="auto">
          <a:xfrm>
            <a:off x="6218238" y="987425"/>
            <a:ext cx="2422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500" b="1">
                <a:solidFill>
                  <a:srgbClr val="FFFFFF"/>
                </a:solidFill>
                <a:cs typeface="Calibri" pitchFamily="34" charset="0"/>
              </a:rPr>
              <a:t>Database &amp; AI</a:t>
            </a:r>
            <a:endParaRPr lang="en-US" sz="1500"/>
          </a:p>
        </p:txBody>
      </p:sp>
      <p:sp>
        <p:nvSpPr>
          <p:cNvPr id="8233" name="Shape 40"/>
          <p:cNvSpPr>
            <a:spLocks noChangeArrowheads="1"/>
          </p:cNvSpPr>
          <p:nvPr/>
        </p:nvSpPr>
        <p:spPr bwMode="auto">
          <a:xfrm>
            <a:off x="6264275" y="1663700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4" name="Text 41"/>
          <p:cNvSpPr>
            <a:spLocks noChangeArrowheads="1"/>
          </p:cNvSpPr>
          <p:nvPr/>
        </p:nvSpPr>
        <p:spPr bwMode="auto">
          <a:xfrm>
            <a:off x="6354763" y="1663700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MongoDB + Mongoose</a:t>
            </a:r>
            <a:endParaRPr lang="en-US" sz="1100"/>
          </a:p>
        </p:txBody>
      </p:sp>
      <p:sp>
        <p:nvSpPr>
          <p:cNvPr id="8235" name="Shape 42"/>
          <p:cNvSpPr>
            <a:spLocks noChangeArrowheads="1"/>
          </p:cNvSpPr>
          <p:nvPr/>
        </p:nvSpPr>
        <p:spPr bwMode="auto">
          <a:xfrm>
            <a:off x="6264275" y="2149475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6" name="Text 43"/>
          <p:cNvSpPr>
            <a:spLocks noChangeArrowheads="1"/>
          </p:cNvSpPr>
          <p:nvPr/>
        </p:nvSpPr>
        <p:spPr bwMode="auto">
          <a:xfrm>
            <a:off x="6354763" y="2149475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Google Gemini 1.5 Flash</a:t>
            </a:r>
            <a:endParaRPr lang="en-US" sz="1100"/>
          </a:p>
        </p:txBody>
      </p:sp>
      <p:sp>
        <p:nvSpPr>
          <p:cNvPr id="8237" name="Shape 44"/>
          <p:cNvSpPr>
            <a:spLocks noChangeArrowheads="1"/>
          </p:cNvSpPr>
          <p:nvPr/>
        </p:nvSpPr>
        <p:spPr bwMode="auto">
          <a:xfrm>
            <a:off x="6264275" y="2633663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8" name="Text 45"/>
          <p:cNvSpPr>
            <a:spLocks noChangeArrowheads="1"/>
          </p:cNvSpPr>
          <p:nvPr/>
        </p:nvSpPr>
        <p:spPr bwMode="auto">
          <a:xfrm>
            <a:off x="6354763" y="2633663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Base64 Image Processing</a:t>
            </a:r>
            <a:endParaRPr lang="en-US" sz="1100"/>
          </a:p>
        </p:txBody>
      </p:sp>
      <p:sp>
        <p:nvSpPr>
          <p:cNvPr id="8239" name="Shape 46"/>
          <p:cNvSpPr>
            <a:spLocks noChangeArrowheads="1"/>
          </p:cNvSpPr>
          <p:nvPr/>
        </p:nvSpPr>
        <p:spPr bwMode="auto">
          <a:xfrm>
            <a:off x="6264275" y="3117850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40" name="Text 47"/>
          <p:cNvSpPr>
            <a:spLocks noChangeArrowheads="1"/>
          </p:cNvSpPr>
          <p:nvPr/>
        </p:nvSpPr>
        <p:spPr bwMode="auto">
          <a:xfrm>
            <a:off x="6354763" y="3117850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Seed Script (Admin)</a:t>
            </a:r>
            <a:endParaRPr lang="en-US" sz="1100"/>
          </a:p>
        </p:txBody>
      </p:sp>
      <p:sp>
        <p:nvSpPr>
          <p:cNvPr id="8241" name="Shape 48"/>
          <p:cNvSpPr>
            <a:spLocks noChangeArrowheads="1"/>
          </p:cNvSpPr>
          <p:nvPr/>
        </p:nvSpPr>
        <p:spPr bwMode="auto">
          <a:xfrm>
            <a:off x="6264275" y="3602038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42" name="Text 49"/>
          <p:cNvSpPr>
            <a:spLocks noChangeArrowheads="1"/>
          </p:cNvSpPr>
          <p:nvPr/>
        </p:nvSpPr>
        <p:spPr bwMode="auto">
          <a:xfrm>
            <a:off x="6354763" y="3602038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Session Storage</a:t>
            </a:r>
            <a:endParaRPr lang="en-US" sz="1100"/>
          </a:p>
        </p:txBody>
      </p:sp>
      <p:sp>
        <p:nvSpPr>
          <p:cNvPr id="8243" name="Shape 50"/>
          <p:cNvSpPr>
            <a:spLocks noChangeArrowheads="1"/>
          </p:cNvSpPr>
          <p:nvPr/>
        </p:nvSpPr>
        <p:spPr bwMode="auto">
          <a:xfrm>
            <a:off x="6264275" y="4087813"/>
            <a:ext cx="2330450" cy="384175"/>
          </a:xfrm>
          <a:prstGeom prst="rect">
            <a:avLst/>
          </a:prstGeom>
          <a:solidFill>
            <a:srgbClr val="0F2044">
              <a:alpha val="70195"/>
            </a:srgbClr>
          </a:solidFill>
          <a:ln w="12700">
            <a:solidFill>
              <a:srgbClr val="FFD166">
                <a:alpha val="30196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44" name="Text 51"/>
          <p:cNvSpPr>
            <a:spLocks noChangeArrowheads="1"/>
          </p:cNvSpPr>
          <p:nvPr/>
        </p:nvSpPr>
        <p:spPr bwMode="auto">
          <a:xfrm>
            <a:off x="6354763" y="4087813"/>
            <a:ext cx="22399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EBF0FA"/>
                </a:solidFill>
                <a:cs typeface="Calibri" pitchFamily="34" charset="0"/>
              </a:rPr>
              <a:t>Query Filters &amp; Pagination</a:t>
            </a:r>
            <a:endParaRPr lang="en-US" sz="1100"/>
          </a:p>
        </p:txBody>
      </p:sp>
      <p:sp>
        <p:nvSpPr>
          <p:cNvPr id="8246" name="Text 53"/>
          <p:cNvSpPr>
            <a:spLocks noChangeArrowheads="1"/>
          </p:cNvSpPr>
          <p:nvPr/>
        </p:nvSpPr>
        <p:spPr bwMode="auto">
          <a:xfrm>
            <a:off x="320675" y="4618038"/>
            <a:ext cx="85026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 i="1">
                <a:solidFill>
                  <a:srgbClr val="EBF0FA"/>
                </a:solidFill>
              </a:rPr>
              <a:t>Communication Interface: RESTful API via Express.js  •  Axios HTTP Client (Frontend ↔ Backend)  •  JWT Token Headers</a:t>
            </a:r>
            <a:endParaRPr lang="en-US" sz="900"/>
          </a:p>
        </p:txBody>
      </p:sp>
      <p:sp>
        <p:nvSpPr>
          <p:cNvPr id="54" name="Shape 1"/>
          <p:cNvSpPr>
            <a:spLocks noChangeArrowheads="1"/>
          </p:cNvSpPr>
          <p:nvPr/>
        </p:nvSpPr>
        <p:spPr bwMode="auto">
          <a:xfrm>
            <a:off x="0" y="-2089"/>
            <a:ext cx="9240253" cy="867781"/>
          </a:xfrm>
          <a:prstGeom prst="rect">
            <a:avLst/>
          </a:prstGeom>
          <a:solidFill>
            <a:srgbClr val="002060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50231" y="108635"/>
            <a:ext cx="55045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  <a:cs typeface="Calibri" pitchFamily="34" charset="0"/>
              </a:rPr>
              <a:t>Tools </a:t>
            </a:r>
            <a:r>
              <a:rPr lang="en-US" sz="3600" b="1" dirty="0">
                <a:solidFill>
                  <a:srgbClr val="FFFFFF"/>
                </a:solidFill>
                <a:cs typeface="Calibri" pitchFamily="34" charset="0"/>
              </a:rPr>
              <a:t>&amp; Technologies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0078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/>
          <p:cNvSpPr>
            <a:spLocks noChangeArrowheads="1"/>
          </p:cNvSpPr>
          <p:nvPr/>
        </p:nvSpPr>
        <p:spPr bwMode="auto">
          <a:xfrm>
            <a:off x="0" y="0"/>
            <a:ext cx="9144000" cy="100647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19" name="Shape 1"/>
          <p:cNvSpPr>
            <a:spLocks noChangeArrowheads="1"/>
          </p:cNvSpPr>
          <p:nvPr/>
        </p:nvSpPr>
        <p:spPr bwMode="auto">
          <a:xfrm>
            <a:off x="0" y="914400"/>
            <a:ext cx="9144000" cy="92075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0" name="Text 2"/>
          <p:cNvSpPr>
            <a:spLocks noChangeArrowheads="1"/>
          </p:cNvSpPr>
          <p:nvPr/>
        </p:nvSpPr>
        <p:spPr bwMode="auto">
          <a:xfrm>
            <a:off x="365125" y="13652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2800" b="1">
                <a:solidFill>
                  <a:srgbClr val="FFFFFF"/>
                </a:solidFill>
                <a:cs typeface="Calibri" pitchFamily="34" charset="0"/>
              </a:rPr>
              <a:t>Entity Relationship Diagram (ERD)</a:t>
            </a:r>
            <a:endParaRPr lang="en-US" sz="2800"/>
          </a:p>
        </p:txBody>
      </p:sp>
      <p:sp>
        <p:nvSpPr>
          <p:cNvPr id="9224" name="Text 62"/>
          <p:cNvSpPr>
            <a:spLocks noChangeArrowheads="1"/>
          </p:cNvSpPr>
          <p:nvPr/>
        </p:nvSpPr>
        <p:spPr bwMode="auto">
          <a:xfrm>
            <a:off x="7635875" y="4937125"/>
            <a:ext cx="1187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/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/>
          <p:cNvSpPr>
            <a:spLocks noChangeArrowheads="1"/>
          </p:cNvSpPr>
          <p:nvPr/>
        </p:nvSpPr>
        <p:spPr bwMode="auto">
          <a:xfrm>
            <a:off x="0" y="0"/>
            <a:ext cx="9144000" cy="100647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19" name="Shape 1"/>
          <p:cNvSpPr>
            <a:spLocks noChangeArrowheads="1"/>
          </p:cNvSpPr>
          <p:nvPr/>
        </p:nvSpPr>
        <p:spPr bwMode="auto">
          <a:xfrm>
            <a:off x="0" y="914400"/>
            <a:ext cx="9144000" cy="92075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0" name="Text 2"/>
          <p:cNvSpPr>
            <a:spLocks noChangeArrowheads="1"/>
          </p:cNvSpPr>
          <p:nvPr/>
        </p:nvSpPr>
        <p:spPr bwMode="auto">
          <a:xfrm>
            <a:off x="365125" y="13652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2800" b="1" dirty="0" smtClean="0">
                <a:solidFill>
                  <a:srgbClr val="FFFFFF"/>
                </a:solidFill>
                <a:cs typeface="Calibri" pitchFamily="34" charset="0"/>
              </a:rPr>
              <a:t>             System Architecture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898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Analytics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6868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868680"/>
            <a:ext cx="2029968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5"/>
          <p:cNvSpPr/>
          <p:nvPr/>
        </p:nvSpPr>
        <p:spPr>
          <a:xfrm>
            <a:off x="256032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56032" y="148132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32304" y="86868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868680"/>
            <a:ext cx="2029968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2432304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32304" y="148132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08576" y="86868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08576" y="868680"/>
            <a:ext cx="2029968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3"/>
          <p:cNvSpPr/>
          <p:nvPr/>
        </p:nvSpPr>
        <p:spPr>
          <a:xfrm>
            <a:off x="4608576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08576" y="148132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84848" y="86868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84848" y="868680"/>
            <a:ext cx="2029968" cy="6400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7"/>
          <p:cNvSpPr/>
          <p:nvPr/>
        </p:nvSpPr>
        <p:spPr>
          <a:xfrm>
            <a:off x="6784848" y="10058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784848" y="148132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Quiz Score</a:t>
            </a:r>
            <a:endParaRPr lang="en-US" sz="10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56032" y="1920240"/>
          <a:ext cx="8631936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88283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hape 0"/>
          <p:cNvSpPr>
            <a:spLocks noChangeArrowheads="1"/>
          </p:cNvSpPr>
          <p:nvPr/>
        </p:nvSpPr>
        <p:spPr bwMode="auto">
          <a:xfrm>
            <a:off x="1" y="0"/>
            <a:ext cx="9143999" cy="82232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2" name="Text 2"/>
          <p:cNvSpPr>
            <a:spLocks noChangeArrowheads="1"/>
          </p:cNvSpPr>
          <p:nvPr/>
        </p:nvSpPr>
        <p:spPr bwMode="auto">
          <a:xfrm>
            <a:off x="365125" y="13652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2800" b="1" dirty="0">
                <a:solidFill>
                  <a:srgbClr val="FFFFFF"/>
                </a:solidFill>
                <a:cs typeface="Calibri" pitchFamily="34" charset="0"/>
              </a:rPr>
              <a:t>Advantages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3749675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294" name="Shape 4"/>
          <p:cNvSpPr>
            <a:spLocks noChangeArrowheads="1"/>
          </p:cNvSpPr>
          <p:nvPr/>
        </p:nvSpPr>
        <p:spPr bwMode="auto">
          <a:xfrm>
            <a:off x="228600" y="1143000"/>
            <a:ext cx="4114800" cy="549275"/>
          </a:xfrm>
          <a:prstGeom prst="rect">
            <a:avLst/>
          </a:prstGeom>
          <a:solidFill>
            <a:srgbClr val="0A7A4F"/>
          </a:solidFill>
          <a:ln w="12700">
            <a:solidFill>
              <a:srgbClr val="0A7A4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5" name="Text 5"/>
          <p:cNvSpPr>
            <a:spLocks noChangeArrowheads="1"/>
          </p:cNvSpPr>
          <p:nvPr/>
        </p:nvSpPr>
        <p:spPr bwMode="auto">
          <a:xfrm>
            <a:off x="320675" y="1169988"/>
            <a:ext cx="393065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600" b="1">
                <a:solidFill>
                  <a:srgbClr val="FFFFFF"/>
                </a:solidFill>
              </a:rPr>
              <a:t>✅ Advantages</a:t>
            </a:r>
            <a:endParaRPr lang="en-US" sz="1600"/>
          </a:p>
        </p:txBody>
      </p:sp>
      <p:sp>
        <p:nvSpPr>
          <p:cNvPr id="12296" name="Shape 6"/>
          <p:cNvSpPr>
            <a:spLocks noChangeArrowheads="1"/>
          </p:cNvSpPr>
          <p:nvPr/>
        </p:nvSpPr>
        <p:spPr bwMode="auto">
          <a:xfrm>
            <a:off x="365125" y="1809750"/>
            <a:ext cx="257175" cy="25717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7" name="Text 7"/>
          <p:cNvSpPr>
            <a:spLocks noChangeArrowheads="1"/>
          </p:cNvSpPr>
          <p:nvPr/>
        </p:nvSpPr>
        <p:spPr bwMode="auto">
          <a:xfrm>
            <a:off x="365125" y="1809750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298" name="Text 8"/>
          <p:cNvSpPr>
            <a:spLocks noChangeArrowheads="1"/>
          </p:cNvSpPr>
          <p:nvPr/>
        </p:nvSpPr>
        <p:spPr bwMode="auto">
          <a:xfrm>
            <a:off x="712788" y="1773238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Promotes deep learning via Socratic AI method</a:t>
            </a:r>
            <a:endParaRPr lang="en-US" sz="1100"/>
          </a:p>
        </p:txBody>
      </p:sp>
      <p:sp>
        <p:nvSpPr>
          <p:cNvPr id="12299" name="Shape 9"/>
          <p:cNvSpPr>
            <a:spLocks noChangeArrowheads="1"/>
          </p:cNvSpPr>
          <p:nvPr/>
        </p:nvSpPr>
        <p:spPr bwMode="auto">
          <a:xfrm>
            <a:off x="365125" y="2176463"/>
            <a:ext cx="257175" cy="25558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0" name="Text 10"/>
          <p:cNvSpPr>
            <a:spLocks noChangeArrowheads="1"/>
          </p:cNvSpPr>
          <p:nvPr/>
        </p:nvSpPr>
        <p:spPr bwMode="auto">
          <a:xfrm>
            <a:off x="365125" y="2176463"/>
            <a:ext cx="25717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01" name="Text 11"/>
          <p:cNvSpPr>
            <a:spLocks noChangeArrowheads="1"/>
          </p:cNvSpPr>
          <p:nvPr/>
        </p:nvSpPr>
        <p:spPr bwMode="auto">
          <a:xfrm>
            <a:off x="712788" y="2139950"/>
            <a:ext cx="347503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Supports 8 subjects with context-aware AI responses</a:t>
            </a:r>
            <a:endParaRPr lang="en-US" sz="1100"/>
          </a:p>
        </p:txBody>
      </p:sp>
      <p:sp>
        <p:nvSpPr>
          <p:cNvPr id="12302" name="Shape 12"/>
          <p:cNvSpPr>
            <a:spLocks noChangeArrowheads="1"/>
          </p:cNvSpPr>
          <p:nvPr/>
        </p:nvSpPr>
        <p:spPr bwMode="auto">
          <a:xfrm>
            <a:off x="365125" y="2541588"/>
            <a:ext cx="257175" cy="25717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3" name="Text 13"/>
          <p:cNvSpPr>
            <a:spLocks noChangeArrowheads="1"/>
          </p:cNvSpPr>
          <p:nvPr/>
        </p:nvSpPr>
        <p:spPr bwMode="auto">
          <a:xfrm>
            <a:off x="365125" y="2541588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04" name="Text 14"/>
          <p:cNvSpPr>
            <a:spLocks noChangeArrowheads="1"/>
          </p:cNvSpPr>
          <p:nvPr/>
        </p:nvSpPr>
        <p:spPr bwMode="auto">
          <a:xfrm>
            <a:off x="712788" y="2505075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Beautiful LaTeX math rendering with KaTeX</a:t>
            </a:r>
            <a:endParaRPr lang="en-US" sz="1100"/>
          </a:p>
        </p:txBody>
      </p:sp>
      <p:sp>
        <p:nvSpPr>
          <p:cNvPr id="12305" name="Shape 15"/>
          <p:cNvSpPr>
            <a:spLocks noChangeArrowheads="1"/>
          </p:cNvSpPr>
          <p:nvPr/>
        </p:nvSpPr>
        <p:spPr bwMode="auto">
          <a:xfrm>
            <a:off x="365125" y="2908300"/>
            <a:ext cx="257175" cy="2555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6" name="Text 16"/>
          <p:cNvSpPr>
            <a:spLocks noChangeArrowheads="1"/>
          </p:cNvSpPr>
          <p:nvPr/>
        </p:nvSpPr>
        <p:spPr bwMode="auto">
          <a:xfrm>
            <a:off x="365125" y="2908300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07" name="Text 17"/>
          <p:cNvSpPr>
            <a:spLocks noChangeArrowheads="1"/>
          </p:cNvSpPr>
          <p:nvPr/>
        </p:nvSpPr>
        <p:spPr bwMode="auto">
          <a:xfrm>
            <a:off x="712788" y="2871788"/>
            <a:ext cx="34750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Secure JWT authentication with role-based access</a:t>
            </a:r>
            <a:endParaRPr lang="en-US" sz="1100"/>
          </a:p>
        </p:txBody>
      </p:sp>
      <p:sp>
        <p:nvSpPr>
          <p:cNvPr id="12308" name="Shape 18"/>
          <p:cNvSpPr>
            <a:spLocks noChangeArrowheads="1"/>
          </p:cNvSpPr>
          <p:nvPr/>
        </p:nvSpPr>
        <p:spPr bwMode="auto">
          <a:xfrm>
            <a:off x="365125" y="3273425"/>
            <a:ext cx="257175" cy="2555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Text 19"/>
          <p:cNvSpPr>
            <a:spLocks noChangeArrowheads="1"/>
          </p:cNvSpPr>
          <p:nvPr/>
        </p:nvSpPr>
        <p:spPr bwMode="auto">
          <a:xfrm>
            <a:off x="365125" y="3273425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10" name="Text 20"/>
          <p:cNvSpPr>
            <a:spLocks noChangeArrowheads="1"/>
          </p:cNvSpPr>
          <p:nvPr/>
        </p:nvSpPr>
        <p:spPr bwMode="auto">
          <a:xfrm>
            <a:off x="712788" y="3236913"/>
            <a:ext cx="34750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Admin dashboard with real-time analytics &amp; charts</a:t>
            </a:r>
            <a:endParaRPr lang="en-US" sz="1100"/>
          </a:p>
        </p:txBody>
      </p:sp>
      <p:sp>
        <p:nvSpPr>
          <p:cNvPr id="12311" name="Shape 21"/>
          <p:cNvSpPr>
            <a:spLocks noChangeArrowheads="1"/>
          </p:cNvSpPr>
          <p:nvPr/>
        </p:nvSpPr>
        <p:spPr bwMode="auto">
          <a:xfrm>
            <a:off x="365125" y="3638550"/>
            <a:ext cx="257175" cy="25717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2" name="Text 22"/>
          <p:cNvSpPr>
            <a:spLocks noChangeArrowheads="1"/>
          </p:cNvSpPr>
          <p:nvPr/>
        </p:nvSpPr>
        <p:spPr bwMode="auto">
          <a:xfrm>
            <a:off x="365125" y="3638550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13" name="Text 23"/>
          <p:cNvSpPr>
            <a:spLocks noChangeArrowheads="1"/>
          </p:cNvSpPr>
          <p:nvPr/>
        </p:nvSpPr>
        <p:spPr bwMode="auto">
          <a:xfrm>
            <a:off x="712788" y="3602038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Students can upload photos of handwritten homework</a:t>
            </a:r>
            <a:endParaRPr lang="en-US" sz="1100"/>
          </a:p>
        </p:txBody>
      </p:sp>
      <p:sp>
        <p:nvSpPr>
          <p:cNvPr id="12314" name="Shape 24"/>
          <p:cNvSpPr>
            <a:spLocks noChangeArrowheads="1"/>
          </p:cNvSpPr>
          <p:nvPr/>
        </p:nvSpPr>
        <p:spPr bwMode="auto">
          <a:xfrm>
            <a:off x="365125" y="4005263"/>
            <a:ext cx="257175" cy="25558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5" name="Text 25"/>
          <p:cNvSpPr>
            <a:spLocks noChangeArrowheads="1"/>
          </p:cNvSpPr>
          <p:nvPr/>
        </p:nvSpPr>
        <p:spPr bwMode="auto">
          <a:xfrm>
            <a:off x="365125" y="4005263"/>
            <a:ext cx="25717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16" name="Text 26"/>
          <p:cNvSpPr>
            <a:spLocks noChangeArrowheads="1"/>
          </p:cNvSpPr>
          <p:nvPr/>
        </p:nvSpPr>
        <p:spPr bwMode="auto">
          <a:xfrm>
            <a:off x="712788" y="3968750"/>
            <a:ext cx="347503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Auto-generated quizzes reinforce learning after sessions</a:t>
            </a:r>
            <a:endParaRPr lang="en-US" sz="1100"/>
          </a:p>
        </p:txBody>
      </p:sp>
      <p:sp>
        <p:nvSpPr>
          <p:cNvPr id="12317" name="Shape 27"/>
          <p:cNvSpPr>
            <a:spLocks noChangeArrowheads="1"/>
          </p:cNvSpPr>
          <p:nvPr/>
        </p:nvSpPr>
        <p:spPr bwMode="auto">
          <a:xfrm>
            <a:off x="365125" y="4370388"/>
            <a:ext cx="257175" cy="25717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8" name="Text 28"/>
          <p:cNvSpPr>
            <a:spLocks noChangeArrowheads="1"/>
          </p:cNvSpPr>
          <p:nvPr/>
        </p:nvSpPr>
        <p:spPr bwMode="auto">
          <a:xfrm>
            <a:off x="365125" y="4370388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2319" name="Text 29"/>
          <p:cNvSpPr>
            <a:spLocks noChangeArrowheads="1"/>
          </p:cNvSpPr>
          <p:nvPr/>
        </p:nvSpPr>
        <p:spPr bwMode="auto">
          <a:xfrm>
            <a:off x="712788" y="4333875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Scalable MongoDB + Mongoose database design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800600" y="1143000"/>
            <a:ext cx="4114800" cy="3749675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321" name="Shape 31"/>
          <p:cNvSpPr>
            <a:spLocks noChangeArrowheads="1"/>
          </p:cNvSpPr>
          <p:nvPr/>
        </p:nvSpPr>
        <p:spPr bwMode="auto">
          <a:xfrm>
            <a:off x="4800600" y="1143000"/>
            <a:ext cx="4114800" cy="549275"/>
          </a:xfrm>
          <a:prstGeom prst="rect">
            <a:avLst/>
          </a:prstGeom>
          <a:solidFill>
            <a:srgbClr val="B8730A"/>
          </a:solidFill>
          <a:ln w="12700">
            <a:solidFill>
              <a:srgbClr val="B8730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2" name="Text 32"/>
          <p:cNvSpPr>
            <a:spLocks noChangeArrowheads="1"/>
          </p:cNvSpPr>
          <p:nvPr/>
        </p:nvSpPr>
        <p:spPr bwMode="auto">
          <a:xfrm>
            <a:off x="4892675" y="1169988"/>
            <a:ext cx="393065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 ⚠ </a:t>
            </a:r>
            <a:r>
              <a:rPr lang="en-US" sz="1600" b="1" dirty="0">
                <a:solidFill>
                  <a:srgbClr val="FFFFFF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2323" name="Shape 33"/>
          <p:cNvSpPr>
            <a:spLocks noChangeArrowheads="1"/>
          </p:cNvSpPr>
          <p:nvPr/>
        </p:nvSpPr>
        <p:spPr bwMode="auto">
          <a:xfrm>
            <a:off x="4937125" y="1809750"/>
            <a:ext cx="257175" cy="2571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4" name="Text 34"/>
          <p:cNvSpPr>
            <a:spLocks noChangeArrowheads="1"/>
          </p:cNvSpPr>
          <p:nvPr/>
        </p:nvSpPr>
        <p:spPr bwMode="auto">
          <a:xfrm>
            <a:off x="4937125" y="1809750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25" name="Text 35"/>
          <p:cNvSpPr>
            <a:spLocks noChangeArrowheads="1"/>
          </p:cNvSpPr>
          <p:nvPr/>
        </p:nvSpPr>
        <p:spPr bwMode="auto">
          <a:xfrm>
            <a:off x="5284788" y="1773238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Gemini API has daily free-tier rate limits</a:t>
            </a:r>
            <a:endParaRPr lang="en-US" sz="1100"/>
          </a:p>
        </p:txBody>
      </p:sp>
      <p:sp>
        <p:nvSpPr>
          <p:cNvPr id="12326" name="Shape 36"/>
          <p:cNvSpPr>
            <a:spLocks noChangeArrowheads="1"/>
          </p:cNvSpPr>
          <p:nvPr/>
        </p:nvSpPr>
        <p:spPr bwMode="auto">
          <a:xfrm>
            <a:off x="4937125" y="2176463"/>
            <a:ext cx="257175" cy="25558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7" name="Text 37"/>
          <p:cNvSpPr>
            <a:spLocks noChangeArrowheads="1"/>
          </p:cNvSpPr>
          <p:nvPr/>
        </p:nvSpPr>
        <p:spPr bwMode="auto">
          <a:xfrm>
            <a:off x="4937125" y="2176463"/>
            <a:ext cx="25717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28" name="Text 38"/>
          <p:cNvSpPr>
            <a:spLocks noChangeArrowheads="1"/>
          </p:cNvSpPr>
          <p:nvPr/>
        </p:nvSpPr>
        <p:spPr bwMode="auto">
          <a:xfrm>
            <a:off x="5284788" y="2139950"/>
            <a:ext cx="347503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Photo OCR accuracy depends on image quality</a:t>
            </a:r>
            <a:endParaRPr lang="en-US" sz="1100"/>
          </a:p>
        </p:txBody>
      </p:sp>
      <p:sp>
        <p:nvSpPr>
          <p:cNvPr id="12329" name="Shape 39"/>
          <p:cNvSpPr>
            <a:spLocks noChangeArrowheads="1"/>
          </p:cNvSpPr>
          <p:nvPr/>
        </p:nvSpPr>
        <p:spPr bwMode="auto">
          <a:xfrm>
            <a:off x="4937125" y="2541588"/>
            <a:ext cx="257175" cy="2571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30" name="Text 40"/>
          <p:cNvSpPr>
            <a:spLocks noChangeArrowheads="1"/>
          </p:cNvSpPr>
          <p:nvPr/>
        </p:nvSpPr>
        <p:spPr bwMode="auto">
          <a:xfrm>
            <a:off x="4937125" y="2541588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31" name="Text 41"/>
          <p:cNvSpPr>
            <a:spLocks noChangeArrowheads="1"/>
          </p:cNvSpPr>
          <p:nvPr/>
        </p:nvSpPr>
        <p:spPr bwMode="auto">
          <a:xfrm>
            <a:off x="5284788" y="2505075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No real-time collaboration or live tutoring sessions</a:t>
            </a:r>
            <a:endParaRPr lang="en-US" sz="1100"/>
          </a:p>
        </p:txBody>
      </p:sp>
      <p:sp>
        <p:nvSpPr>
          <p:cNvPr id="12332" name="Shape 42"/>
          <p:cNvSpPr>
            <a:spLocks noChangeArrowheads="1"/>
          </p:cNvSpPr>
          <p:nvPr/>
        </p:nvSpPr>
        <p:spPr bwMode="auto">
          <a:xfrm>
            <a:off x="4937125" y="2908300"/>
            <a:ext cx="257175" cy="255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33" name="Text 43"/>
          <p:cNvSpPr>
            <a:spLocks noChangeArrowheads="1"/>
          </p:cNvSpPr>
          <p:nvPr/>
        </p:nvSpPr>
        <p:spPr bwMode="auto">
          <a:xfrm>
            <a:off x="4937125" y="2908300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34" name="Text 44"/>
          <p:cNvSpPr>
            <a:spLocks noChangeArrowheads="1"/>
          </p:cNvSpPr>
          <p:nvPr/>
        </p:nvSpPr>
        <p:spPr bwMode="auto">
          <a:xfrm>
            <a:off x="5284788" y="2871788"/>
            <a:ext cx="34750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Quiz limited to 4 questions per session</a:t>
            </a:r>
            <a:endParaRPr lang="en-US" sz="1100"/>
          </a:p>
        </p:txBody>
      </p:sp>
      <p:sp>
        <p:nvSpPr>
          <p:cNvPr id="12335" name="Shape 45"/>
          <p:cNvSpPr>
            <a:spLocks noChangeArrowheads="1"/>
          </p:cNvSpPr>
          <p:nvPr/>
        </p:nvSpPr>
        <p:spPr bwMode="auto">
          <a:xfrm>
            <a:off x="4937125" y="3273425"/>
            <a:ext cx="257175" cy="255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36" name="Text 46"/>
          <p:cNvSpPr>
            <a:spLocks noChangeArrowheads="1"/>
          </p:cNvSpPr>
          <p:nvPr/>
        </p:nvSpPr>
        <p:spPr bwMode="auto">
          <a:xfrm>
            <a:off x="4937125" y="3273425"/>
            <a:ext cx="2571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37" name="Text 47"/>
          <p:cNvSpPr>
            <a:spLocks noChangeArrowheads="1"/>
          </p:cNvSpPr>
          <p:nvPr/>
        </p:nvSpPr>
        <p:spPr bwMode="auto">
          <a:xfrm>
            <a:off x="5284788" y="3236913"/>
            <a:ext cx="34750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No offline mode — requires internet connection</a:t>
            </a:r>
            <a:endParaRPr lang="en-US" sz="1100"/>
          </a:p>
        </p:txBody>
      </p:sp>
      <p:sp>
        <p:nvSpPr>
          <p:cNvPr id="12338" name="Shape 48"/>
          <p:cNvSpPr>
            <a:spLocks noChangeArrowheads="1"/>
          </p:cNvSpPr>
          <p:nvPr/>
        </p:nvSpPr>
        <p:spPr bwMode="auto">
          <a:xfrm>
            <a:off x="4937125" y="3638550"/>
            <a:ext cx="257175" cy="2571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39" name="Text 49"/>
          <p:cNvSpPr>
            <a:spLocks noChangeArrowheads="1"/>
          </p:cNvSpPr>
          <p:nvPr/>
        </p:nvSpPr>
        <p:spPr bwMode="auto">
          <a:xfrm>
            <a:off x="4937125" y="3638550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40" name="Text 50"/>
          <p:cNvSpPr>
            <a:spLocks noChangeArrowheads="1"/>
          </p:cNvSpPr>
          <p:nvPr/>
        </p:nvSpPr>
        <p:spPr bwMode="auto">
          <a:xfrm>
            <a:off x="5284788" y="3602038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Limited to text/image; no audio or video support</a:t>
            </a:r>
            <a:endParaRPr lang="en-US" sz="1100"/>
          </a:p>
        </p:txBody>
      </p:sp>
      <p:sp>
        <p:nvSpPr>
          <p:cNvPr id="12341" name="Shape 51"/>
          <p:cNvSpPr>
            <a:spLocks noChangeArrowheads="1"/>
          </p:cNvSpPr>
          <p:nvPr/>
        </p:nvSpPr>
        <p:spPr bwMode="auto">
          <a:xfrm>
            <a:off x="4937125" y="4005263"/>
            <a:ext cx="257175" cy="25558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42" name="Text 52"/>
          <p:cNvSpPr>
            <a:spLocks noChangeArrowheads="1"/>
          </p:cNvSpPr>
          <p:nvPr/>
        </p:nvSpPr>
        <p:spPr bwMode="auto">
          <a:xfrm>
            <a:off x="4937125" y="4005263"/>
            <a:ext cx="25717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43" name="Text 53"/>
          <p:cNvSpPr>
            <a:spLocks noChangeArrowheads="1"/>
          </p:cNvSpPr>
          <p:nvPr/>
        </p:nvSpPr>
        <p:spPr bwMode="auto">
          <a:xfrm>
            <a:off x="5284788" y="3968750"/>
            <a:ext cx="347503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Admin cannot message or notify students directly</a:t>
            </a:r>
            <a:endParaRPr lang="en-US" sz="1100"/>
          </a:p>
        </p:txBody>
      </p:sp>
      <p:sp>
        <p:nvSpPr>
          <p:cNvPr id="12344" name="Shape 54"/>
          <p:cNvSpPr>
            <a:spLocks noChangeArrowheads="1"/>
          </p:cNvSpPr>
          <p:nvPr/>
        </p:nvSpPr>
        <p:spPr bwMode="auto">
          <a:xfrm>
            <a:off x="4937125" y="4370388"/>
            <a:ext cx="257175" cy="2571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45" name="Text 55"/>
          <p:cNvSpPr>
            <a:spLocks noChangeArrowheads="1"/>
          </p:cNvSpPr>
          <p:nvPr/>
        </p:nvSpPr>
        <p:spPr bwMode="auto">
          <a:xfrm>
            <a:off x="4937125" y="4370388"/>
            <a:ext cx="2571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2346" name="Text 56"/>
          <p:cNvSpPr>
            <a:spLocks noChangeArrowheads="1"/>
          </p:cNvSpPr>
          <p:nvPr/>
        </p:nvSpPr>
        <p:spPr bwMode="auto">
          <a:xfrm>
            <a:off x="5284788" y="4333875"/>
            <a:ext cx="34750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1E293B"/>
                </a:solidFill>
                <a:cs typeface="Calibri" pitchFamily="34" charset="0"/>
              </a:rPr>
              <a:t>Mobile app not available (web-only currently)</a:t>
            </a:r>
            <a:endParaRPr lang="en-US" sz="1100"/>
          </a:p>
        </p:txBody>
      </p:sp>
      <p:sp>
        <p:nvSpPr>
          <p:cNvPr id="59" name="Shape 1"/>
          <p:cNvSpPr/>
          <p:nvPr/>
        </p:nvSpPr>
        <p:spPr>
          <a:xfrm>
            <a:off x="-3843" y="826336"/>
            <a:ext cx="9144000" cy="54864"/>
          </a:xfrm>
          <a:prstGeom prst="rect">
            <a:avLst/>
          </a:prstGeom>
          <a:solidFill>
            <a:srgbClr val="00ACC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4"/>
          <p:cNvSpPr/>
          <p:nvPr/>
        </p:nvSpPr>
        <p:spPr>
          <a:xfrm>
            <a:off x="201613" y="13255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18" name="Shape 5"/>
          <p:cNvSpPr>
            <a:spLocks noChangeArrowheads="1"/>
          </p:cNvSpPr>
          <p:nvPr/>
        </p:nvSpPr>
        <p:spPr bwMode="auto">
          <a:xfrm>
            <a:off x="201613" y="1325563"/>
            <a:ext cx="2028825" cy="5556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1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482725"/>
            <a:ext cx="5032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 6"/>
          <p:cNvSpPr>
            <a:spLocks noChangeArrowheads="1"/>
          </p:cNvSpPr>
          <p:nvPr/>
        </p:nvSpPr>
        <p:spPr bwMode="auto">
          <a:xfrm>
            <a:off x="274638" y="20764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📱 Mobile App</a:t>
            </a:r>
            <a:endParaRPr lang="en-US" sz="1000"/>
          </a:p>
        </p:txBody>
      </p:sp>
      <p:sp>
        <p:nvSpPr>
          <p:cNvPr id="43" name="Text 7"/>
          <p:cNvSpPr/>
          <p:nvPr/>
        </p:nvSpPr>
        <p:spPr>
          <a:xfrm>
            <a:off x="274638" y="24415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React Native iOS &amp; Android app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414588" y="13255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23" name="Shape 9"/>
          <p:cNvSpPr>
            <a:spLocks noChangeArrowheads="1"/>
          </p:cNvSpPr>
          <p:nvPr/>
        </p:nvSpPr>
        <p:spPr bwMode="auto">
          <a:xfrm>
            <a:off x="2414588" y="1325563"/>
            <a:ext cx="2028825" cy="555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2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14906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5" name="Text 10"/>
          <p:cNvSpPr>
            <a:spLocks noChangeArrowheads="1"/>
          </p:cNvSpPr>
          <p:nvPr/>
        </p:nvSpPr>
        <p:spPr bwMode="auto">
          <a:xfrm>
            <a:off x="2487613" y="20764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🎙️ Voice Input</a:t>
            </a:r>
            <a:endParaRPr lang="en-US" sz="1000"/>
          </a:p>
        </p:txBody>
      </p:sp>
      <p:sp>
        <p:nvSpPr>
          <p:cNvPr id="48" name="Text 11"/>
          <p:cNvSpPr/>
          <p:nvPr/>
        </p:nvSpPr>
        <p:spPr>
          <a:xfrm>
            <a:off x="2487613" y="24415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Speech-to-Text question input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4627563" y="13255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28" name="Shape 13"/>
          <p:cNvSpPr>
            <a:spLocks noChangeArrowheads="1"/>
          </p:cNvSpPr>
          <p:nvPr/>
        </p:nvSpPr>
        <p:spPr bwMode="auto">
          <a:xfrm>
            <a:off x="4627563" y="1325563"/>
            <a:ext cx="2028825" cy="5556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2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14906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0" name="Text 14"/>
          <p:cNvSpPr>
            <a:spLocks noChangeArrowheads="1"/>
          </p:cNvSpPr>
          <p:nvPr/>
        </p:nvSpPr>
        <p:spPr bwMode="auto">
          <a:xfrm>
            <a:off x="4700588" y="20764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👥 Group Study</a:t>
            </a:r>
            <a:endParaRPr lang="en-US" sz="1000"/>
          </a:p>
        </p:txBody>
      </p:sp>
      <p:sp>
        <p:nvSpPr>
          <p:cNvPr id="53" name="Text 15"/>
          <p:cNvSpPr/>
          <p:nvPr/>
        </p:nvSpPr>
        <p:spPr>
          <a:xfrm>
            <a:off x="4700588" y="24415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Multi-student collaborative rooms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6838950" y="1325563"/>
            <a:ext cx="2030413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33" name="Shape 17"/>
          <p:cNvSpPr>
            <a:spLocks noChangeArrowheads="1"/>
          </p:cNvSpPr>
          <p:nvPr/>
        </p:nvSpPr>
        <p:spPr bwMode="auto">
          <a:xfrm>
            <a:off x="6838950" y="1325563"/>
            <a:ext cx="2030413" cy="555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3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14906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5" name="Text 18"/>
          <p:cNvSpPr>
            <a:spLocks noChangeArrowheads="1"/>
          </p:cNvSpPr>
          <p:nvPr/>
        </p:nvSpPr>
        <p:spPr bwMode="auto">
          <a:xfrm>
            <a:off x="6913563" y="20764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🌐 Multi-Language</a:t>
            </a:r>
            <a:endParaRPr lang="en-US" sz="1000"/>
          </a:p>
        </p:txBody>
      </p:sp>
      <p:sp>
        <p:nvSpPr>
          <p:cNvPr id="58" name="Text 19"/>
          <p:cNvSpPr/>
          <p:nvPr/>
        </p:nvSpPr>
        <p:spPr>
          <a:xfrm>
            <a:off x="6913563" y="24415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Urdu, Arabic &amp; regional languages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201613" y="31543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38" name="Shape 21"/>
          <p:cNvSpPr>
            <a:spLocks noChangeArrowheads="1"/>
          </p:cNvSpPr>
          <p:nvPr/>
        </p:nvSpPr>
        <p:spPr bwMode="auto">
          <a:xfrm>
            <a:off x="201613" y="3154363"/>
            <a:ext cx="2028825" cy="5556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3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33194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0" name="Text 22"/>
          <p:cNvSpPr>
            <a:spLocks noChangeArrowheads="1"/>
          </p:cNvSpPr>
          <p:nvPr/>
        </p:nvSpPr>
        <p:spPr bwMode="auto">
          <a:xfrm>
            <a:off x="274638" y="39052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🏆 Gamification</a:t>
            </a:r>
            <a:endParaRPr lang="en-US" sz="1000"/>
          </a:p>
        </p:txBody>
      </p:sp>
      <p:sp>
        <p:nvSpPr>
          <p:cNvPr id="63" name="Text 23"/>
          <p:cNvSpPr/>
          <p:nvPr/>
        </p:nvSpPr>
        <p:spPr>
          <a:xfrm>
            <a:off x="274638" y="42703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Badges, XP &amp; leaderboards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2414588" y="31543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43" name="Shape 25"/>
          <p:cNvSpPr>
            <a:spLocks noChangeArrowheads="1"/>
          </p:cNvSpPr>
          <p:nvPr/>
        </p:nvSpPr>
        <p:spPr bwMode="auto">
          <a:xfrm>
            <a:off x="2414588" y="3154363"/>
            <a:ext cx="2028825" cy="555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44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33194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5" name="Text 26"/>
          <p:cNvSpPr>
            <a:spLocks noChangeArrowheads="1"/>
          </p:cNvSpPr>
          <p:nvPr/>
        </p:nvSpPr>
        <p:spPr bwMode="auto">
          <a:xfrm>
            <a:off x="2487613" y="39052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📈 AI Analytics</a:t>
            </a:r>
            <a:endParaRPr lang="en-US" sz="1000"/>
          </a:p>
        </p:txBody>
      </p:sp>
      <p:sp>
        <p:nvSpPr>
          <p:cNvPr id="68" name="Text 27"/>
          <p:cNvSpPr/>
          <p:nvPr/>
        </p:nvSpPr>
        <p:spPr>
          <a:xfrm>
            <a:off x="2487613" y="42703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Predictive at-risk student alerts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69" name="Shape 28"/>
          <p:cNvSpPr/>
          <p:nvPr/>
        </p:nvSpPr>
        <p:spPr>
          <a:xfrm>
            <a:off x="4627563" y="3154363"/>
            <a:ext cx="2028825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48" name="Shape 29"/>
          <p:cNvSpPr>
            <a:spLocks noChangeArrowheads="1"/>
          </p:cNvSpPr>
          <p:nvPr/>
        </p:nvSpPr>
        <p:spPr bwMode="auto">
          <a:xfrm>
            <a:off x="4627563" y="3154363"/>
            <a:ext cx="2028825" cy="5556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49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33194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0" name="Text 30"/>
          <p:cNvSpPr>
            <a:spLocks noChangeArrowheads="1"/>
          </p:cNvSpPr>
          <p:nvPr/>
        </p:nvSpPr>
        <p:spPr bwMode="auto">
          <a:xfrm>
            <a:off x="4700588" y="39052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📹 Video Tutor</a:t>
            </a:r>
            <a:endParaRPr lang="en-US" sz="1000"/>
          </a:p>
        </p:txBody>
      </p:sp>
      <p:sp>
        <p:nvSpPr>
          <p:cNvPr id="73" name="Text 31"/>
          <p:cNvSpPr/>
          <p:nvPr/>
        </p:nvSpPr>
        <p:spPr>
          <a:xfrm>
            <a:off x="4700588" y="42703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Live human tutor video sessions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74" name="Shape 32"/>
          <p:cNvSpPr/>
          <p:nvPr/>
        </p:nvSpPr>
        <p:spPr>
          <a:xfrm>
            <a:off x="6838950" y="3154363"/>
            <a:ext cx="2030413" cy="1665287"/>
          </a:xfrm>
          <a:prstGeom prst="rect">
            <a:avLst/>
          </a:prstGeom>
          <a:solidFill>
            <a:srgbClr val="1A3A6B">
              <a:alpha val="78000"/>
            </a:srgbClr>
          </a:solidFill>
          <a:ln w="12700">
            <a:solidFill>
              <a:srgbClr val="4F8E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53" name="Shape 33"/>
          <p:cNvSpPr>
            <a:spLocks noChangeArrowheads="1"/>
          </p:cNvSpPr>
          <p:nvPr/>
        </p:nvSpPr>
        <p:spPr bwMode="auto">
          <a:xfrm>
            <a:off x="6838950" y="3154363"/>
            <a:ext cx="2030413" cy="555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3354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3319463"/>
            <a:ext cx="5032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5" name="Text 34"/>
          <p:cNvSpPr>
            <a:spLocks noChangeArrowheads="1"/>
          </p:cNvSpPr>
          <p:nvPr/>
        </p:nvSpPr>
        <p:spPr bwMode="auto">
          <a:xfrm>
            <a:off x="6913563" y="3905250"/>
            <a:ext cx="1882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D166"/>
                </a:solidFill>
                <a:cs typeface="Calibri" pitchFamily="34" charset="0"/>
              </a:rPr>
              <a:t>🔔 Push Alerts</a:t>
            </a:r>
            <a:endParaRPr lang="en-US" sz="1000"/>
          </a:p>
        </p:txBody>
      </p:sp>
      <p:sp>
        <p:nvSpPr>
          <p:cNvPr id="78" name="Text 35"/>
          <p:cNvSpPr/>
          <p:nvPr/>
        </p:nvSpPr>
        <p:spPr>
          <a:xfrm>
            <a:off x="6913563" y="4270375"/>
            <a:ext cx="1882775" cy="45720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EBF0FA"/>
                </a:solidFill>
                <a:ea typeface="Calibri" pitchFamily="34" charset="-122"/>
                <a:cs typeface="Calibri" pitchFamily="34" charset="-120"/>
              </a:rPr>
              <a:t>Email &amp; browser reminders</a:t>
            </a:r>
            <a:endParaRPr lang="en-US" sz="950" dirty="0">
              <a:latin typeface="+mn-lt"/>
              <a:cs typeface="+mn-cs"/>
            </a:endParaRPr>
          </a:p>
        </p:txBody>
      </p:sp>
      <p:sp>
        <p:nvSpPr>
          <p:cNvPr id="45" name="Shape 0"/>
          <p:cNvSpPr>
            <a:spLocks noChangeArrowheads="1"/>
          </p:cNvSpPr>
          <p:nvPr/>
        </p:nvSpPr>
        <p:spPr bwMode="auto">
          <a:xfrm>
            <a:off x="0" y="0"/>
            <a:ext cx="9143999" cy="95450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89284" y="356754"/>
            <a:ext cx="2528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cs typeface="Calibri" pitchFamily="34" charset="0"/>
              </a:rPr>
              <a:t>Future Enhancements</a:t>
            </a:r>
            <a:endParaRPr lang="en-US" dirty="0"/>
          </a:p>
        </p:txBody>
      </p:sp>
      <p:sp>
        <p:nvSpPr>
          <p:cNvPr id="47" name="Shape 1"/>
          <p:cNvSpPr/>
          <p:nvPr/>
        </p:nvSpPr>
        <p:spPr>
          <a:xfrm>
            <a:off x="-54226" y="927073"/>
            <a:ext cx="9198226" cy="54864"/>
          </a:xfrm>
          <a:prstGeom prst="rect">
            <a:avLst/>
          </a:prstGeom>
          <a:solidFill>
            <a:srgbClr val="00ACC1"/>
          </a:solidFill>
          <a:ln/>
        </p:spPr>
      </p:sp>
    </p:spTree>
    <p:extLst>
      <p:ext uri="{BB962C8B-B14F-4D97-AF65-F5344CB8AC3E}">
        <p14:creationId xmlns:p14="http://schemas.microsoft.com/office/powerpoint/2010/main" val="103597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/>
          <p:cNvSpPr>
            <a:spLocks noChangeArrowheads="1"/>
          </p:cNvSpPr>
          <p:nvPr/>
        </p:nvSpPr>
        <p:spPr bwMode="auto">
          <a:xfrm>
            <a:off x="0" y="0"/>
            <a:ext cx="9144000" cy="1006475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/>
          <p:cNvSpPr>
            <a:spLocks noChangeArrowheads="1"/>
          </p:cNvSpPr>
          <p:nvPr/>
        </p:nvSpPr>
        <p:spPr bwMode="auto">
          <a:xfrm>
            <a:off x="0" y="914400"/>
            <a:ext cx="9144000" cy="92075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Text 2"/>
          <p:cNvSpPr>
            <a:spLocks noChangeArrowheads="1"/>
          </p:cNvSpPr>
          <p:nvPr/>
        </p:nvSpPr>
        <p:spPr bwMode="auto">
          <a:xfrm>
            <a:off x="457200" y="109538"/>
            <a:ext cx="7772400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4800" b="1" dirty="0">
                <a:solidFill>
                  <a:srgbClr val="FFFFFF"/>
                </a:solidFill>
                <a:cs typeface="Calibri" pitchFamily="34" charset="0"/>
              </a:rPr>
              <a:t>Conclusion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20675" y="1143000"/>
            <a:ext cx="5943600" cy="731838"/>
          </a:xfrm>
          <a:prstGeom prst="rect">
            <a:avLst/>
          </a:prstGeom>
          <a:noFill/>
          <a:ln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MentorAI v2 successfully transforms traditional homework help into an active, guided learning journey using the Socratic method and Google Gemini AI.</a:t>
            </a:r>
            <a:endParaRPr lang="en-US" dirty="0">
              <a:latin typeface="+mn-lt"/>
              <a:cs typeface="+mn-cs"/>
            </a:endParaRPr>
          </a:p>
        </p:txBody>
      </p:sp>
      <p:sp>
        <p:nvSpPr>
          <p:cNvPr id="15366" name="Shape 4"/>
          <p:cNvSpPr>
            <a:spLocks noChangeArrowheads="1"/>
          </p:cNvSpPr>
          <p:nvPr/>
        </p:nvSpPr>
        <p:spPr bwMode="auto">
          <a:xfrm>
            <a:off x="274638" y="1993900"/>
            <a:ext cx="5943600" cy="620713"/>
          </a:xfrm>
          <a:prstGeom prst="rect">
            <a:avLst/>
          </a:prstGeom>
          <a:solidFill>
            <a:srgbClr val="EBF0FA"/>
          </a:solidFill>
          <a:ln w="12700">
            <a:solidFill>
              <a:srgbClr val="4F8EF7">
                <a:alpha val="45097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6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2076450"/>
            <a:ext cx="4111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 5"/>
          <p:cNvSpPr>
            <a:spLocks noChangeArrowheads="1"/>
          </p:cNvSpPr>
          <p:nvPr/>
        </p:nvSpPr>
        <p:spPr bwMode="auto">
          <a:xfrm>
            <a:off x="895350" y="203041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200" b="1">
                <a:solidFill>
                  <a:srgbClr val="0F2044"/>
                </a:solidFill>
                <a:cs typeface="Calibri" pitchFamily="34" charset="0"/>
              </a:rPr>
              <a:t>AI-Powered Learning</a:t>
            </a:r>
            <a:endParaRPr lang="en-US" sz="1200"/>
          </a:p>
        </p:txBody>
      </p:sp>
      <p:sp>
        <p:nvSpPr>
          <p:cNvPr id="15369" name="Text 6"/>
          <p:cNvSpPr>
            <a:spLocks noChangeArrowheads="1"/>
          </p:cNvSpPr>
          <p:nvPr/>
        </p:nvSpPr>
        <p:spPr bwMode="auto">
          <a:xfrm>
            <a:off x="895350" y="2295525"/>
            <a:ext cx="5194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 dirty="0">
                <a:solidFill>
                  <a:srgbClr val="64748B"/>
                </a:solidFill>
                <a:cs typeface="Calibri" pitchFamily="34" charset="0"/>
              </a:rPr>
              <a:t>Socratic AI encourages critical thinking — students learn by reasoning, not copying.</a:t>
            </a:r>
            <a:endParaRPr lang="en-US" sz="1100" dirty="0"/>
          </a:p>
        </p:txBody>
      </p:sp>
      <p:sp>
        <p:nvSpPr>
          <p:cNvPr id="15370" name="Shape 7"/>
          <p:cNvSpPr>
            <a:spLocks noChangeArrowheads="1"/>
          </p:cNvSpPr>
          <p:nvPr/>
        </p:nvSpPr>
        <p:spPr bwMode="auto">
          <a:xfrm>
            <a:off x="274638" y="2706688"/>
            <a:ext cx="59436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>
                <a:alpha val="45097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7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2789238"/>
            <a:ext cx="411163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2" name="Text 8"/>
          <p:cNvSpPr>
            <a:spLocks noChangeArrowheads="1"/>
          </p:cNvSpPr>
          <p:nvPr/>
        </p:nvSpPr>
        <p:spPr bwMode="auto">
          <a:xfrm>
            <a:off x="895350" y="2743200"/>
            <a:ext cx="1828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200" b="1">
                <a:solidFill>
                  <a:srgbClr val="0F2044"/>
                </a:solidFill>
                <a:cs typeface="Calibri" pitchFamily="34" charset="0"/>
              </a:rPr>
              <a:t>Modern MERN Stack</a:t>
            </a:r>
            <a:endParaRPr lang="en-US" sz="1200"/>
          </a:p>
        </p:txBody>
      </p:sp>
      <p:sp>
        <p:nvSpPr>
          <p:cNvPr id="15373" name="Text 9"/>
          <p:cNvSpPr>
            <a:spLocks noChangeArrowheads="1"/>
          </p:cNvSpPr>
          <p:nvPr/>
        </p:nvSpPr>
        <p:spPr bwMode="auto">
          <a:xfrm>
            <a:off x="895350" y="3008313"/>
            <a:ext cx="5194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64748B"/>
                </a:solidFill>
                <a:cs typeface="Calibri" pitchFamily="34" charset="0"/>
              </a:rPr>
              <a:t>React + Node.js + MongoDB + Gemini AI — a scalable, real-world full-stack application.</a:t>
            </a:r>
            <a:endParaRPr lang="en-US" sz="1100"/>
          </a:p>
        </p:txBody>
      </p:sp>
      <p:sp>
        <p:nvSpPr>
          <p:cNvPr id="15374" name="Shape 10"/>
          <p:cNvSpPr>
            <a:spLocks noChangeArrowheads="1"/>
          </p:cNvSpPr>
          <p:nvPr/>
        </p:nvSpPr>
        <p:spPr bwMode="auto">
          <a:xfrm>
            <a:off x="274638" y="3419475"/>
            <a:ext cx="5943600" cy="622300"/>
          </a:xfrm>
          <a:prstGeom prst="rect">
            <a:avLst/>
          </a:prstGeom>
          <a:solidFill>
            <a:srgbClr val="EBF0FA"/>
          </a:solidFill>
          <a:ln w="12700">
            <a:solidFill>
              <a:srgbClr val="4F8EF7">
                <a:alpha val="45097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7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3502025"/>
            <a:ext cx="4111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6" name="Text 11"/>
          <p:cNvSpPr>
            <a:spLocks noChangeArrowheads="1"/>
          </p:cNvSpPr>
          <p:nvPr/>
        </p:nvSpPr>
        <p:spPr bwMode="auto">
          <a:xfrm>
            <a:off x="895350" y="3455988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200" b="1">
                <a:solidFill>
                  <a:srgbClr val="0F2044"/>
                </a:solidFill>
                <a:cs typeface="Calibri" pitchFamily="34" charset="0"/>
              </a:rPr>
              <a:t>Admin Visibility</a:t>
            </a:r>
            <a:endParaRPr lang="en-US" sz="1200"/>
          </a:p>
        </p:txBody>
      </p:sp>
      <p:sp>
        <p:nvSpPr>
          <p:cNvPr id="15377" name="Text 12"/>
          <p:cNvSpPr>
            <a:spLocks noChangeArrowheads="1"/>
          </p:cNvSpPr>
          <p:nvPr/>
        </p:nvSpPr>
        <p:spPr bwMode="auto">
          <a:xfrm>
            <a:off x="895350" y="3721100"/>
            <a:ext cx="5194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64748B"/>
                </a:solidFill>
                <a:cs typeface="Calibri" pitchFamily="34" charset="0"/>
              </a:rPr>
              <a:t>Educators get full platform analytics: engagement, subject trends, student performance.</a:t>
            </a:r>
            <a:endParaRPr lang="en-US" sz="1100"/>
          </a:p>
        </p:txBody>
      </p:sp>
      <p:sp>
        <p:nvSpPr>
          <p:cNvPr id="15378" name="Shape 13"/>
          <p:cNvSpPr>
            <a:spLocks noChangeArrowheads="1"/>
          </p:cNvSpPr>
          <p:nvPr/>
        </p:nvSpPr>
        <p:spPr bwMode="auto">
          <a:xfrm>
            <a:off x="274638" y="4133850"/>
            <a:ext cx="5943600" cy="620713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>
                <a:alpha val="45097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7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4214813"/>
            <a:ext cx="411163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0" name="Text 14"/>
          <p:cNvSpPr>
            <a:spLocks noChangeArrowheads="1"/>
          </p:cNvSpPr>
          <p:nvPr/>
        </p:nvSpPr>
        <p:spPr bwMode="auto">
          <a:xfrm>
            <a:off x="895350" y="4170363"/>
            <a:ext cx="18288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200" b="1">
                <a:solidFill>
                  <a:srgbClr val="0F2044"/>
                </a:solidFill>
                <a:cs typeface="Calibri" pitchFamily="34" charset="0"/>
              </a:rPr>
              <a:t>Ready to Scale</a:t>
            </a:r>
            <a:endParaRPr lang="en-US" sz="1200"/>
          </a:p>
        </p:txBody>
      </p:sp>
      <p:sp>
        <p:nvSpPr>
          <p:cNvPr id="15381" name="Text 15"/>
          <p:cNvSpPr>
            <a:spLocks noChangeArrowheads="1"/>
          </p:cNvSpPr>
          <p:nvPr/>
        </p:nvSpPr>
        <p:spPr bwMode="auto">
          <a:xfrm>
            <a:off x="895350" y="4435475"/>
            <a:ext cx="51943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100">
                <a:solidFill>
                  <a:srgbClr val="64748B"/>
                </a:solidFill>
                <a:cs typeface="Calibri" pitchFamily="34" charset="0"/>
              </a:rPr>
              <a:t>Designed for voice input, mobile app, and multi-language support in future versions.</a:t>
            </a:r>
            <a:endParaRPr lang="en-US" sz="1100"/>
          </a:p>
        </p:txBody>
      </p:sp>
      <p:sp>
        <p:nvSpPr>
          <p:cNvPr id="15382" name="Text 17"/>
          <p:cNvSpPr>
            <a:spLocks noChangeArrowheads="1"/>
          </p:cNvSpPr>
          <p:nvPr/>
        </p:nvSpPr>
        <p:spPr bwMode="auto">
          <a:xfrm>
            <a:off x="274638" y="4708525"/>
            <a:ext cx="85947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900">
                <a:solidFill>
                  <a:srgbClr val="EBF0FA"/>
                </a:solidFill>
              </a:rPr>
              <a:t>MentorAI v2  •  BSCS-6-B  •  Web Engineering  •  Nayyab Gul &amp; Laiba aeem  •  Sir Hussain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2"/>
          <p:cNvSpPr>
            <a:spLocks noChangeArrowheads="1"/>
          </p:cNvSpPr>
          <p:nvPr/>
        </p:nvSpPr>
        <p:spPr bwMode="auto">
          <a:xfrm>
            <a:off x="0" y="4846638"/>
            <a:ext cx="9144000" cy="2968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Text 3"/>
          <p:cNvSpPr>
            <a:spLocks noChangeArrowheads="1"/>
          </p:cNvSpPr>
          <p:nvPr/>
        </p:nvSpPr>
        <p:spPr bwMode="auto">
          <a:xfrm>
            <a:off x="457200" y="2057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Any </a:t>
            </a:r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Questions? </a:t>
            </a:r>
            <a:endParaRPr lang="en-US" sz="5200" dirty="0"/>
          </a:p>
        </p:txBody>
      </p:sp>
      <p:sp>
        <p:nvSpPr>
          <p:cNvPr id="17413" name="Text 4"/>
          <p:cNvSpPr>
            <a:spLocks noChangeArrowheads="1"/>
          </p:cNvSpPr>
          <p:nvPr/>
        </p:nvSpPr>
        <p:spPr bwMode="auto">
          <a:xfrm>
            <a:off x="457200" y="3017838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7414" name="Text 6"/>
          <p:cNvSpPr>
            <a:spLocks noChangeArrowheads="1"/>
          </p:cNvSpPr>
          <p:nvPr/>
        </p:nvSpPr>
        <p:spPr bwMode="auto">
          <a:xfrm>
            <a:off x="1371600" y="3611563"/>
            <a:ext cx="6400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2"/>
          <p:cNvSpPr>
            <a:spLocks noChangeArrowheads="1"/>
          </p:cNvSpPr>
          <p:nvPr/>
        </p:nvSpPr>
        <p:spPr bwMode="auto">
          <a:xfrm>
            <a:off x="0" y="4846638"/>
            <a:ext cx="9144000" cy="29686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74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365125"/>
            <a:ext cx="164465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3"/>
          <p:cNvSpPr>
            <a:spLocks noChangeArrowheads="1"/>
          </p:cNvSpPr>
          <p:nvPr/>
        </p:nvSpPr>
        <p:spPr bwMode="auto">
          <a:xfrm>
            <a:off x="457200" y="2057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5200" b="1" dirty="0">
                <a:solidFill>
                  <a:srgbClr val="FFFFFF"/>
                </a:solidFill>
                <a:cs typeface="Calibri" pitchFamily="34" charset="0"/>
              </a:rPr>
              <a:t>Thank You!</a:t>
            </a:r>
            <a:endParaRPr lang="en-US" sz="5200" dirty="0"/>
          </a:p>
        </p:txBody>
      </p:sp>
      <p:sp>
        <p:nvSpPr>
          <p:cNvPr id="17413" name="Text 4"/>
          <p:cNvSpPr>
            <a:spLocks noChangeArrowheads="1"/>
          </p:cNvSpPr>
          <p:nvPr/>
        </p:nvSpPr>
        <p:spPr bwMode="auto">
          <a:xfrm>
            <a:off x="457200" y="3017838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7414" name="Text 6"/>
          <p:cNvSpPr>
            <a:spLocks noChangeArrowheads="1"/>
          </p:cNvSpPr>
          <p:nvPr/>
        </p:nvSpPr>
        <p:spPr bwMode="auto">
          <a:xfrm>
            <a:off x="1371600" y="3611563"/>
            <a:ext cx="6400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2203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943</Words>
  <Application>Microsoft Office PowerPoint</Application>
  <PresentationFormat>On-screen Show (16:9)</PresentationFormat>
  <Paragraphs>245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MentorAI v2 — AI Homework Helper &amp; Tutor</dc:title>
  <dc:subject>PptxGenJS Presentation</dc:subject>
  <dc:creator>PptxGenJS</dc:creator>
  <cp:lastModifiedBy>falcon</cp:lastModifiedBy>
  <cp:revision>21</cp:revision>
  <dcterms:created xsi:type="dcterms:W3CDTF">2026-05-17T07:18:14Z</dcterms:created>
  <dcterms:modified xsi:type="dcterms:W3CDTF">2026-05-20T12:20:59Z</dcterms:modified>
</cp:coreProperties>
</file>
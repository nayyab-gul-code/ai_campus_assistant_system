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87" r:id="rId3"/>
    <p:sldId id="278" r:id="rId4"/>
    <p:sldId id="276" r:id="rId5"/>
    <p:sldId id="288" r:id="rId6"/>
    <p:sldId id="279" r:id="rId7"/>
    <p:sldId id="281" r:id="rId8"/>
    <p:sldId id="285" r:id="rId9"/>
    <p:sldId id="283" r:id="rId10"/>
    <p:sldId id="286" r:id="rId11"/>
    <p:sldId id="274" r:id="rId12"/>
    <p:sldId id="275" r:id="rId13"/>
  </p:sldIdLst>
  <p:sldSz cx="9144000" cy="5143500" type="screen16x9"/>
  <p:notesSz cx="51435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5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6" autoAdjust="0"/>
    <p:restoredTop sz="94610" autoAdjust="0"/>
  </p:normalViewPr>
  <p:slideViewPr>
    <p:cSldViewPr snapToGrid="0" snapToObjects="1">
      <p:cViewPr varScale="1">
        <p:scale>
          <a:sx n="85" d="100"/>
          <a:sy n="85" d="100"/>
        </p:scale>
        <p:origin x="-192" y="-55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6988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2E1AD9E-7111-4D24-A62D-48B180903F6B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BA65AC2-E6A7-467B-A9D4-3128397F899A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BA65AC2-E6A7-467B-A9D4-3128397F899A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ECC9F37-9FC0-4483-BB31-2A1FA1ECB3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86745C4-CA27-4B9C-954F-A8E9499CBEC3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7EC7384-82AF-4D3E-BE1B-93FEB32609F3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0"/>
          <p:cNvSpPr>
            <a:spLocks noChangeArrowheads="1"/>
          </p:cNvSpPr>
          <p:nvPr/>
        </p:nvSpPr>
        <p:spPr bwMode="auto">
          <a:xfrm>
            <a:off x="0" y="0"/>
            <a:ext cx="9144000" cy="73025"/>
          </a:xfrm>
          <a:prstGeom prst="rect">
            <a:avLst/>
          </a:prstGeom>
          <a:solidFill>
            <a:srgbClr val="F5A6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9275" y="1096963"/>
            <a:ext cx="8045450" cy="823912"/>
          </a:xfrm>
          <a:prstGeom prst="rect">
            <a:avLst/>
          </a:prstGeom>
          <a:noFill/>
        </p:spPr>
        <p:txBody>
          <a:bodyPr anchor="ctr"/>
          <a:lstStyle/>
          <a:p>
            <a:pPr marL="0" indent="0"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     </a:t>
            </a:r>
          </a:p>
          <a:p>
            <a:pPr marL="0" indent="0">
              <a:buNone/>
            </a:pPr>
            <a:endParaRPr lang="en-US" sz="4400" b="1" dirty="0">
              <a:solidFill>
                <a:schemeClr val="bg1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Campus</a:t>
            </a:r>
          </a:p>
          <a:p>
            <a:pPr marL="0" indent="0">
              <a:buNone/>
            </a:pPr>
            <a:r>
              <a:rPr lang="en-US" sz="4400" b="1" dirty="0" smtClean="0">
                <a:solidFill>
                  <a:srgbClr val="007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Assistant </a:t>
            </a:r>
            <a:r>
              <a:rPr lang="en-US" sz="4400" b="1" dirty="0">
                <a:solidFill>
                  <a:srgbClr val="007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44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4400" b="1" dirty="0">
              <a:solidFill>
                <a:schemeClr val="bg1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</p:txBody>
      </p:sp>
      <p:sp>
        <p:nvSpPr>
          <p:cNvPr id="1028" name="Text 2"/>
          <p:cNvSpPr>
            <a:spLocks noChangeArrowheads="1"/>
          </p:cNvSpPr>
          <p:nvPr/>
        </p:nvSpPr>
        <p:spPr bwMode="auto">
          <a:xfrm>
            <a:off x="2284241" y="2834481"/>
            <a:ext cx="80454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9275" y="2422525"/>
            <a:ext cx="8045450" cy="823913"/>
          </a:xfrm>
          <a:prstGeom prst="rect">
            <a:avLst/>
          </a:prstGeom>
          <a:noFill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n-lt"/>
              <a:cs typeface="+mn-cs"/>
            </a:endParaRPr>
          </a:p>
        </p:txBody>
      </p:sp>
      <p:sp>
        <p:nvSpPr>
          <p:cNvPr id="10" name="Text 7"/>
          <p:cNvSpPr>
            <a:spLocks noChangeArrowheads="1"/>
          </p:cNvSpPr>
          <p:nvPr/>
        </p:nvSpPr>
        <p:spPr bwMode="auto">
          <a:xfrm>
            <a:off x="415076" y="346352"/>
            <a:ext cx="4687103" cy="4114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/>
          <a:lstStyle/>
          <a:p>
            <a:pPr algn="ctr">
              <a:tabLst>
                <a:tab pos="231775" algn="l"/>
              </a:tabLst>
            </a:pPr>
            <a:r>
              <a:rPr lang="en-US" sz="2000" b="1" dirty="0">
                <a:solidFill>
                  <a:srgbClr val="FFFFFF"/>
                </a:solidFill>
              </a:rPr>
              <a:t>🎓 </a:t>
            </a:r>
            <a:r>
              <a:rPr lang="en-US" sz="2000" i="1" dirty="0">
                <a:solidFill>
                  <a:srgbClr val="E9ECEF"/>
                </a:solidFill>
                <a:cs typeface="Calibri" panose="020F0502020204030204" pitchFamily="34" charset="0"/>
              </a:rPr>
              <a:t>Advanced </a:t>
            </a:r>
            <a:r>
              <a:rPr lang="en-US" sz="2000" i="1" dirty="0" smtClean="0">
                <a:solidFill>
                  <a:srgbClr val="E9ECEF"/>
                </a:solidFill>
                <a:cs typeface="Calibri" panose="020F0502020204030204" pitchFamily="34" charset="0"/>
              </a:rPr>
              <a:t> </a:t>
            </a:r>
            <a:r>
              <a:rPr lang="en-US" sz="2000" i="1" dirty="0">
                <a:solidFill>
                  <a:srgbClr val="E9ECEF"/>
                </a:solidFill>
                <a:cs typeface="Calibri" panose="020F0502020204030204" pitchFamily="34" charset="0"/>
              </a:rPr>
              <a:t>Visual Programming</a:t>
            </a:r>
            <a:r>
              <a:rPr lang="en-US" sz="2000" b="1" dirty="0" smtClean="0">
                <a:solidFill>
                  <a:srgbClr val="FFFFFF"/>
                </a:solidFill>
              </a:rPr>
              <a:t> </a:t>
            </a:r>
            <a:r>
              <a:rPr lang="en-US" sz="2000" b="1" dirty="0">
                <a:solidFill>
                  <a:srgbClr val="FFFFFF"/>
                </a:solidFill>
              </a:rPr>
              <a:t>PROJECT</a:t>
            </a:r>
            <a:endParaRPr lang="en-US" sz="2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710" y="2710070"/>
            <a:ext cx="2828853" cy="20285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91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Campus Assistant System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0" y="2560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82880" y="1078992"/>
            <a:ext cx="269748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2880" y="1078992"/>
            <a:ext cx="26974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0789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" y="1481328"/>
            <a:ext cx="2514600" cy="3337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Campus Assistant is a smart, web-based chatbot for university services built using ASP.NET Core 8.0 and AI technology.
</a:t>
            </a: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 roles:
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
• Teacher
• Admin
</a:t>
            </a: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24/7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students no longer need to visit the office for admissions, fees, results, or timetables.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1078992"/>
            <a:ext cx="269748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1078992"/>
            <a:ext cx="26974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10789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0" y="1536192"/>
            <a:ext cx="54864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10128" y="1536192"/>
            <a:ext cx="2468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 in long queues for basic information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00400" y="2048256"/>
            <a:ext cx="2606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2176272"/>
            <a:ext cx="54864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10128" y="2176272"/>
            <a:ext cx="2468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offices closed nights &amp; weekends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00400" y="2688336"/>
            <a:ext cx="2606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00400" y="2816352"/>
            <a:ext cx="54864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10128" y="2816352"/>
            <a:ext cx="2468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spend too much time on repeated questions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0" y="3328416"/>
            <a:ext cx="2606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00400" y="3456432"/>
            <a:ext cx="54864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10128" y="3456432"/>
            <a:ext cx="2468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scattered across many websites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0" y="3968496"/>
            <a:ext cx="2606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0" y="4096512"/>
            <a:ext cx="54864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10128" y="4096512"/>
            <a:ext cx="2468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support for individual students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126480" y="1078992"/>
            <a:ext cx="283464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26480" y="1078992"/>
            <a:ext cx="2834640" cy="347472"/>
          </a:xfrm>
          <a:prstGeom prst="rect">
            <a:avLst/>
          </a:prstGeom>
          <a:solidFill>
            <a:srgbClr val="0D7C3D"/>
          </a:solidFill>
          <a:ln w="12700">
            <a:solidFill>
              <a:srgbClr val="0D7C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7220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9344"/>
            <a:ext cx="228600" cy="2286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455664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chatbot to answer campus queries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172200" y="2029968"/>
            <a:ext cx="2697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57984"/>
            <a:ext cx="228600" cy="2286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455664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daily workload for admin staff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172200" y="2578608"/>
            <a:ext cx="2697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06624"/>
            <a:ext cx="228600" cy="2286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455664" y="2633472"/>
            <a:ext cx="2423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24/7 support for all students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172200" y="3127248"/>
            <a:ext cx="2697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55264"/>
            <a:ext cx="228600" cy="2286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455664" y="3182112"/>
            <a:ext cx="2423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easy-to-use portals for each role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6172200" y="3675888"/>
            <a:ext cx="2697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803904"/>
            <a:ext cx="228600" cy="22860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455664" y="3730752"/>
            <a:ext cx="2423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real-time access to important data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172200" y="4224528"/>
            <a:ext cx="2697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352544"/>
            <a:ext cx="228600" cy="22860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455664" y="4279392"/>
            <a:ext cx="2423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helpful analytics for the admin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8790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8CF7"/>
          </a:solidFill>
          <a:ln w="12700">
            <a:solidFill>
              <a:srgbClr val="4A8C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0C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0"/>
                </a:solidFill>
              </a:rPr>
              <a:t>3 core user roles — each with dedicated features and access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88920" cy="777240"/>
          </a:xfrm>
          <a:prstGeom prst="rect">
            <a:avLst/>
          </a:prstGeom>
          <a:solidFill>
            <a:srgbClr val="E8F0FF"/>
          </a:solidFill>
          <a:ln w="12700">
            <a:solidFill>
              <a:srgbClr val="4A8CF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24128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078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Module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93192" y="1792224"/>
            <a:ext cx="2468880" cy="36576"/>
          </a:xfrm>
          <a:prstGeom prst="rect">
            <a:avLst/>
          </a:prstGeom>
          <a:solidFill>
            <a:srgbClr val="4A8CF7"/>
          </a:solidFill>
          <a:ln w="12700">
            <a:solidFill>
              <a:srgbClr val="4A8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920240"/>
            <a:ext cx="91440" cy="91440"/>
          </a:xfrm>
          <a:prstGeom prst="ellipse">
            <a:avLst/>
          </a:prstGeom>
          <a:solidFill>
            <a:srgbClr val="4A8CF7"/>
          </a:solidFill>
          <a:ln w="12700">
            <a:solidFill>
              <a:srgbClr val="4A8C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18836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Login &amp; secure portal access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2395728"/>
            <a:ext cx="91440" cy="91440"/>
          </a:xfrm>
          <a:prstGeom prst="ellipse">
            <a:avLst/>
          </a:prstGeom>
          <a:solidFill>
            <a:srgbClr val="4A8CF7"/>
          </a:solidFill>
          <a:ln w="12700">
            <a:solidFill>
              <a:srgbClr val="4A8C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" y="23591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View timetable &amp; exam schedule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" y="2871216"/>
            <a:ext cx="91440" cy="91440"/>
          </a:xfrm>
          <a:prstGeom prst="ellipse">
            <a:avLst/>
          </a:prstGeom>
          <a:solidFill>
            <a:srgbClr val="4A8CF7"/>
          </a:solidFill>
          <a:ln w="12700">
            <a:solidFill>
              <a:srgbClr val="4A8C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8346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Check fee status &amp; pay online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3346704"/>
            <a:ext cx="91440" cy="91440"/>
          </a:xfrm>
          <a:prstGeom prst="ellipse">
            <a:avLst/>
          </a:prstGeom>
          <a:solidFill>
            <a:srgbClr val="4A8CF7"/>
          </a:solidFill>
          <a:ln w="12700">
            <a:solidFill>
              <a:srgbClr val="4A8C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" y="331012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View results &amp; CGPA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3822192"/>
            <a:ext cx="91440" cy="91440"/>
          </a:xfrm>
          <a:prstGeom prst="ellipse">
            <a:avLst/>
          </a:prstGeom>
          <a:solidFill>
            <a:srgbClr val="4A8CF7"/>
          </a:solidFill>
          <a:ln w="12700">
            <a:solidFill>
              <a:srgbClr val="4A8C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78561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Chat with AI assistant 24/7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4297680"/>
            <a:ext cx="91440" cy="91440"/>
          </a:xfrm>
          <a:prstGeom prst="ellipse">
            <a:avLst/>
          </a:prstGeom>
          <a:solidFill>
            <a:srgbClr val="4A8CF7"/>
          </a:solidFill>
          <a:ln w="12700">
            <a:solidFill>
              <a:srgbClr val="4A8C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" y="426110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Receive exam &amp; fee notifications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72968" y="96012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172968" y="960120"/>
            <a:ext cx="2788920" cy="777240"/>
          </a:xfrm>
          <a:prstGeom prst="rect">
            <a:avLst/>
          </a:prstGeom>
          <a:solidFill>
            <a:srgbClr val="EDE8FF"/>
          </a:solidFill>
          <a:ln w="12700">
            <a:solidFill>
              <a:srgbClr val="7C5CF7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024128"/>
            <a:ext cx="530352" cy="53035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922776" y="1078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Module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337560" y="1792224"/>
            <a:ext cx="2468880" cy="36576"/>
          </a:xfrm>
          <a:prstGeom prst="rect">
            <a:avLst/>
          </a:prstGeom>
          <a:solidFill>
            <a:srgbClr val="7C5CF7"/>
          </a:solidFill>
          <a:ln w="12700">
            <a:solidFill>
              <a:srgbClr val="7C5C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355848" y="1920240"/>
            <a:ext cx="91440" cy="91440"/>
          </a:xfrm>
          <a:prstGeom prst="ellipse">
            <a:avLst/>
          </a:prstGeom>
          <a:solidFill>
            <a:srgbClr val="7C5CF7"/>
          </a:solidFill>
          <a:ln w="12700">
            <a:solidFill>
              <a:srgbClr val="7C5CF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520440" y="18836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Login with faculty credentials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355848" y="2395728"/>
            <a:ext cx="91440" cy="91440"/>
          </a:xfrm>
          <a:prstGeom prst="ellipse">
            <a:avLst/>
          </a:prstGeom>
          <a:solidFill>
            <a:srgbClr val="7C5CF7"/>
          </a:solidFill>
          <a:ln w="12700">
            <a:solidFill>
              <a:srgbClr val="7C5CF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20440" y="23591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View assigned courses &amp; classes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355848" y="2871216"/>
            <a:ext cx="91440" cy="91440"/>
          </a:xfrm>
          <a:prstGeom prst="ellipse">
            <a:avLst/>
          </a:prstGeom>
          <a:solidFill>
            <a:srgbClr val="7C5CF7"/>
          </a:solidFill>
          <a:ln w="12700">
            <a:solidFill>
              <a:srgbClr val="7C5CF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520440" y="28346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Manage student attendance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355848" y="3346704"/>
            <a:ext cx="91440" cy="91440"/>
          </a:xfrm>
          <a:prstGeom prst="ellipse">
            <a:avLst/>
          </a:prstGeom>
          <a:solidFill>
            <a:srgbClr val="7C5CF7"/>
          </a:solidFill>
          <a:ln w="12700">
            <a:solidFill>
              <a:srgbClr val="7C5CF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520440" y="331012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Upload course materials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3355848" y="3822192"/>
            <a:ext cx="91440" cy="91440"/>
          </a:xfrm>
          <a:prstGeom prst="ellipse">
            <a:avLst/>
          </a:prstGeom>
          <a:solidFill>
            <a:srgbClr val="7C5CF7"/>
          </a:solidFill>
          <a:ln w="12700">
            <a:solidFill>
              <a:srgbClr val="7C5CF7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520440" y="378561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Post announcements for students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355848" y="4297680"/>
            <a:ext cx="91440" cy="91440"/>
          </a:xfrm>
          <a:prstGeom prst="ellipse">
            <a:avLst/>
          </a:prstGeom>
          <a:solidFill>
            <a:srgbClr val="7C5CF7"/>
          </a:solidFill>
          <a:ln w="12700">
            <a:solidFill>
              <a:srgbClr val="7C5CF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520440" y="426110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Check class timetables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117336" y="960120"/>
            <a:ext cx="2788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117336" y="960120"/>
            <a:ext cx="2788920" cy="777240"/>
          </a:xfrm>
          <a:prstGeom prst="rect">
            <a:avLst/>
          </a:prstGeom>
          <a:solidFill>
            <a:srgbClr val="E0F7F4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024128"/>
            <a:ext cx="530352" cy="53035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867144" y="1078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0C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Module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6281928" y="1792224"/>
            <a:ext cx="246888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300216" y="1920240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464808" y="18836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Full system management dashboard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300216" y="2395728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464808" y="23591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Add / manage students &amp; faculty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6300216" y="2871216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464808" y="28346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Update fees, timetables, results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6300216" y="3346704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464808" y="331012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View AI query analytics &amp; reports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6300216" y="3822192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464808" y="378561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Manage announcements &amp; notices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6300216" y="4297680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464808" y="426110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Monitor system health &amp; logs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5CF7"/>
          </a:solidFill>
          <a:ln w="12700">
            <a:solidFill>
              <a:srgbClr val="7C5CF7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0" y="5029200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A0"/>
                </a:solidFill>
              </a:rPr>
              <a:t>AI Campus Assistant System  |  2025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7241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0C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20640" y="73152"/>
            <a:ext cx="1170432" cy="749808"/>
          </a:xfrm>
          <a:prstGeom prst="roundRect">
            <a:avLst>
              <a:gd name="adj" fmla="val 9756"/>
            </a:avLst>
          </a:prstGeom>
          <a:solidFill>
            <a:srgbClr val="0D1526"/>
          </a:solidFill>
          <a:ln w="12700">
            <a:solidFill>
              <a:srgbClr val="4A8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9144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8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120640" y="4937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C"/>
                </a:solidFill>
              </a:rPr>
              <a:t>Available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0" y="73152"/>
            <a:ext cx="1170432" cy="749808"/>
          </a:xfrm>
          <a:prstGeom prst="roundRect">
            <a:avLst>
              <a:gd name="adj" fmla="val 9756"/>
            </a:avLst>
          </a:prstGeom>
          <a:solidFill>
            <a:srgbClr val="0D1526"/>
          </a:solidFill>
          <a:ln w="12700">
            <a:solidFill>
              <a:srgbClr val="7C5C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9144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5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4937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C"/>
                </a:solidFill>
              </a:rPr>
              <a:t>User Roles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680960" y="73152"/>
            <a:ext cx="1170432" cy="749808"/>
          </a:xfrm>
          <a:prstGeom prst="roundRect">
            <a:avLst>
              <a:gd name="adj" fmla="val 9756"/>
            </a:avLst>
          </a:prstGeom>
          <a:solidFill>
            <a:srgbClr val="0D1526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9144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80960" y="4937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5DC"/>
                </a:solidFill>
              </a:rPr>
              <a:t>Powered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9601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4A8CF7"/>
          </a:solidFill>
          <a:ln w="12700">
            <a:solidFill>
              <a:srgbClr val="4A8CF7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43000"/>
            <a:ext cx="475488" cy="4754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24128" y="10515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AI Chat Assistant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24128" y="136245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NLP-powered bot answers fee, schedule, result questions in plain language instantly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9160" y="9601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960120"/>
            <a:ext cx="64008" cy="1078992"/>
          </a:xfrm>
          <a:prstGeom prst="rect">
            <a:avLst/>
          </a:prstGeom>
          <a:solidFill>
            <a:srgbClr val="7C5CF7"/>
          </a:solidFill>
          <a:ln w="12700">
            <a:solidFill>
              <a:srgbClr val="7C5CF7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143000"/>
            <a:ext cx="475488" cy="475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58968" y="10515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Secure Role-Based Login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58968" y="136245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Separate portals for Student, Teacher, Admin with JWT security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74320" y="222199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404872"/>
            <a:ext cx="475488" cy="4754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24128" y="2313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Real-Time Data Access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1024128" y="26243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Live university database — fee status, results, timetables always updated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709160" y="222199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09160" y="2221992"/>
            <a:ext cx="64008" cy="10789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404872"/>
            <a:ext cx="475488" cy="4754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58968" y="2313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Smart Notifications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58968" y="26243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Automated alerts for fee deadlines, exams, results via email &amp; in-app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274320" y="3483864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666744"/>
            <a:ext cx="475488" cy="4754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24128" y="3575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Responsive Interface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024128" y="38862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Works on mobile, tablet, desktop — no app installation required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4709160" y="3483864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709160" y="3483864"/>
            <a:ext cx="64008" cy="10789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666744"/>
            <a:ext cx="475488" cy="47548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458968" y="3575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Admin Analytics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5458968" y="38862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Real-time charts for query trends, user activity &amp; system health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A8CF7"/>
          </a:solidFill>
          <a:ln w="12700">
            <a:solidFill>
              <a:srgbClr val="4A8CF7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0" y="5029200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A0"/>
                </a:solidFill>
              </a:rPr>
              <a:t>AI Campus Assistant System  |  2025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08533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82880" y="1097280"/>
            <a:ext cx="2057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12B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1097280"/>
            <a:ext cx="2057400" cy="502920"/>
          </a:xfrm>
          <a:prstGeom prst="rect">
            <a:avLst/>
          </a:prstGeom>
          <a:solidFill>
            <a:srgbClr val="512BD4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74320" y="166420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2103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Framework (.NET 8)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097280"/>
            <a:ext cx="2057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3A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23160" y="1097280"/>
            <a:ext cx="2057400" cy="502920"/>
          </a:xfrm>
          <a:prstGeom prst="rect">
            <a:avLst/>
          </a:prstGeom>
          <a:solidFill>
            <a:srgbClr val="13AA52"/>
          </a:solidFill>
          <a:ln/>
        </p:spPr>
      </p:sp>
      <p:sp>
        <p:nvSpPr>
          <p:cNvPr id="13" name="Text 10"/>
          <p:cNvSpPr/>
          <p:nvPr/>
        </p:nvSpPr>
        <p:spPr>
          <a:xfrm>
            <a:off x="2423160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M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14600" y="166420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14600" y="2103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 v2.28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1097280"/>
            <a:ext cx="2057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097280"/>
            <a:ext cx="2057400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G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54880" y="166420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754880" y="2103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API (Pro)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03720" y="1097280"/>
            <a:ext cx="2057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9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03720" y="1097280"/>
            <a:ext cx="2057400" cy="50292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3" name="Text 20"/>
          <p:cNvSpPr/>
          <p:nvPr/>
        </p:nvSpPr>
        <p:spPr>
          <a:xfrm>
            <a:off x="6903720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D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995160" y="166420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95160" y="2103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82880" y="2743200"/>
            <a:ext cx="2057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952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82880" y="2743200"/>
            <a:ext cx="2057400" cy="502920"/>
          </a:xfrm>
          <a:prstGeom prst="rect">
            <a:avLst/>
          </a:prstGeom>
          <a:solidFill>
            <a:srgbClr val="7952B3"/>
          </a:solidFill>
          <a:ln/>
        </p:spPr>
      </p:sp>
      <p:sp>
        <p:nvSpPr>
          <p:cNvPr id="28" name="Text 25"/>
          <p:cNvSpPr/>
          <p:nvPr/>
        </p:nvSpPr>
        <p:spPr>
          <a:xfrm>
            <a:off x="182880" y="27432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B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274320" y="33101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74320" y="3749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Framework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23160" y="2743200"/>
            <a:ext cx="2057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5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23160" y="2743200"/>
            <a:ext cx="2057400" cy="502920"/>
          </a:xfrm>
          <a:prstGeom prst="rect">
            <a:avLst/>
          </a:prstGeom>
          <a:solidFill>
            <a:srgbClr val="E55353"/>
          </a:solidFill>
          <a:ln/>
        </p:spPr>
      </p:sp>
      <p:sp>
        <p:nvSpPr>
          <p:cNvPr id="33" name="Text 30"/>
          <p:cNvSpPr/>
          <p:nvPr/>
        </p:nvSpPr>
        <p:spPr>
          <a:xfrm>
            <a:off x="2423160" y="27432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B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2514600" y="33101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BCrypt.Net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514600" y="3749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663440" y="2743200"/>
            <a:ext cx="2057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63440" y="2743200"/>
            <a:ext cx="2057400" cy="502920"/>
          </a:xfrm>
          <a:prstGeom prst="rect">
            <a:avLst/>
          </a:prstGeom>
          <a:solidFill>
            <a:srgbClr val="239120"/>
          </a:solidFill>
          <a:ln/>
        </p:spPr>
      </p:sp>
      <p:sp>
        <p:nvSpPr>
          <p:cNvPr id="38" name="Text 35"/>
          <p:cNvSpPr/>
          <p:nvPr/>
        </p:nvSpPr>
        <p:spPr>
          <a:xfrm>
            <a:off x="4663440" y="27432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C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4754880" y="33101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Razor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754880" y="3749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View Engine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903720" y="2743200"/>
            <a:ext cx="2057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2D9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903720" y="2743200"/>
            <a:ext cx="2057400" cy="50292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43" name="Text 40"/>
          <p:cNvSpPr/>
          <p:nvPr/>
        </p:nvSpPr>
        <p:spPr>
          <a:xfrm>
            <a:off x="6903720" y="27432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V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995160" y="33101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995160" y="3749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IDE</a:t>
            </a:r>
            <a:endParaRPr lang="en-US" sz="1000" dirty="0"/>
          </a:p>
        </p:txBody>
      </p:sp>
      <p:sp>
        <p:nvSpPr>
          <p:cNvPr id="48" name="Shape 0"/>
          <p:cNvSpPr>
            <a:spLocks noChangeArrowheads="1"/>
          </p:cNvSpPr>
          <p:nvPr/>
        </p:nvSpPr>
        <p:spPr bwMode="auto">
          <a:xfrm>
            <a:off x="-51155" y="0"/>
            <a:ext cx="9144000" cy="648710"/>
          </a:xfrm>
          <a:prstGeom prst="rect">
            <a:avLst/>
          </a:prstGeom>
          <a:solidFill>
            <a:srgbClr val="0A23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3200" dirty="0" smtClean="0">
                <a:solidFill>
                  <a:schemeClr val="bg1"/>
                </a:solidFill>
              </a:rPr>
              <a:t>       Tools &amp; Technologies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58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hape 0"/>
          <p:cNvSpPr>
            <a:spLocks noChangeArrowheads="1"/>
          </p:cNvSpPr>
          <p:nvPr/>
        </p:nvSpPr>
        <p:spPr bwMode="auto">
          <a:xfrm>
            <a:off x="0" y="0"/>
            <a:ext cx="9144000" cy="616226"/>
          </a:xfrm>
          <a:prstGeom prst="rect">
            <a:avLst/>
          </a:prstGeom>
          <a:solidFill>
            <a:srgbClr val="0A23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5" name="Text 1"/>
          <p:cNvSpPr>
            <a:spLocks noChangeArrowheads="1"/>
          </p:cNvSpPr>
          <p:nvPr/>
        </p:nvSpPr>
        <p:spPr bwMode="auto">
          <a:xfrm>
            <a:off x="274637" y="0"/>
            <a:ext cx="85947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400" b="1" dirty="0" smtClean="0">
                <a:solidFill>
                  <a:srgbClr val="FFFFFF"/>
                </a:solidFill>
                <a:latin typeface="Arial Black" panose="020B0A04020102020204" pitchFamily="34" charset="0"/>
              </a:rPr>
              <a:t>System Architecture</a:t>
            </a:r>
            <a:endParaRPr lang="en-US" sz="2400" dirty="0"/>
          </a:p>
        </p:txBody>
      </p:sp>
      <p:sp>
        <p:nvSpPr>
          <p:cNvPr id="8196" name="Text 2"/>
          <p:cNvSpPr>
            <a:spLocks noChangeArrowheads="1"/>
          </p:cNvSpPr>
          <p:nvPr/>
        </p:nvSpPr>
        <p:spPr bwMode="auto">
          <a:xfrm>
            <a:off x="274638" y="530225"/>
            <a:ext cx="85947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US" sz="1400" dirty="0"/>
          </a:p>
        </p:txBody>
      </p:sp>
      <p:sp>
        <p:nvSpPr>
          <p:cNvPr id="32" name="Text 36"/>
          <p:cNvSpPr>
            <a:spLocks noChangeArrowheads="1"/>
          </p:cNvSpPr>
          <p:nvPr/>
        </p:nvSpPr>
        <p:spPr bwMode="auto">
          <a:xfrm>
            <a:off x="6557472" y="3558137"/>
            <a:ext cx="26066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300" b="1" dirty="0">
                <a:solidFill>
                  <a:srgbClr val="FFFFFF"/>
                </a:solidFill>
                <a:cs typeface="Calibri" pitchFamily="34" charset="0"/>
              </a:rPr>
              <a:t>3. REDUCE PHASE</a:t>
            </a:r>
            <a:endParaRPr lang="en-US" sz="1300" dirty="0"/>
          </a:p>
        </p:txBody>
      </p:sp>
      <p:pic>
        <p:nvPicPr>
          <p:cNvPr id="7" name="Picture 6" descr="IMG-20260604-WA0001"/>
          <p:cNvPicPr/>
          <p:nvPr/>
        </p:nvPicPr>
        <p:blipFill>
          <a:blip r:embed="rId3"/>
          <a:stretch>
            <a:fillRect/>
          </a:stretch>
        </p:blipFill>
        <p:spPr>
          <a:xfrm>
            <a:off x="1268634" y="722312"/>
            <a:ext cx="6398260" cy="426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9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hape 0"/>
          <p:cNvSpPr>
            <a:spLocks noChangeArrowheads="1"/>
          </p:cNvSpPr>
          <p:nvPr/>
        </p:nvSpPr>
        <p:spPr bwMode="auto">
          <a:xfrm>
            <a:off x="-51155" y="0"/>
            <a:ext cx="9144000" cy="648710"/>
          </a:xfrm>
          <a:prstGeom prst="rect">
            <a:avLst/>
          </a:prstGeom>
          <a:solidFill>
            <a:srgbClr val="0A23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5" name="Text 1"/>
          <p:cNvSpPr>
            <a:spLocks noChangeArrowheads="1"/>
          </p:cNvSpPr>
          <p:nvPr/>
        </p:nvSpPr>
        <p:spPr bwMode="auto">
          <a:xfrm>
            <a:off x="223483" y="99435"/>
            <a:ext cx="85947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US" sz="24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400" b="1" dirty="0" smtClean="0">
                <a:solidFill>
                  <a:srgbClr val="FFFFFF"/>
                </a:solidFill>
                <a:latin typeface="Arial Black" panose="020B0A04020102020204" pitchFamily="34" charset="0"/>
              </a:rPr>
              <a:t>ERD</a:t>
            </a:r>
          </a:p>
          <a:p>
            <a:pPr algn="ctr"/>
            <a:endParaRPr lang="en-US" sz="2400" dirty="0"/>
          </a:p>
        </p:txBody>
      </p:sp>
      <p:sp>
        <p:nvSpPr>
          <p:cNvPr id="32" name="Text 36"/>
          <p:cNvSpPr>
            <a:spLocks noChangeArrowheads="1"/>
          </p:cNvSpPr>
          <p:nvPr/>
        </p:nvSpPr>
        <p:spPr bwMode="auto">
          <a:xfrm>
            <a:off x="6557472" y="3558137"/>
            <a:ext cx="26066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300" b="1" dirty="0">
                <a:solidFill>
                  <a:srgbClr val="FFFFFF"/>
                </a:solidFill>
                <a:cs typeface="Calibri" pitchFamily="34" charset="0"/>
              </a:rPr>
              <a:t>3. REDUCE PHASE</a:t>
            </a:r>
            <a:endParaRPr lang="en-US" sz="1300" dirty="0"/>
          </a:p>
        </p:txBody>
      </p:sp>
      <p:pic>
        <p:nvPicPr>
          <p:cNvPr id="10" name="Picture 9" descr="Gemini_Generated_Image_omgl86omgl86omgl"/>
          <p:cNvPicPr/>
          <p:nvPr/>
        </p:nvPicPr>
        <p:blipFill>
          <a:blip r:embed="rId3"/>
          <a:stretch>
            <a:fillRect/>
          </a:stretch>
        </p:blipFill>
        <p:spPr>
          <a:xfrm>
            <a:off x="1809616" y="1067866"/>
            <a:ext cx="5934009" cy="382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95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0C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Advantages &amp; Disadvantages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4206240" cy="4251960"/>
          </a:xfrm>
          <a:prstGeom prst="rect">
            <a:avLst/>
          </a:prstGeom>
          <a:solidFill>
            <a:srgbClr val="E8FBF4"/>
          </a:solidFill>
          <a:ln w="12700">
            <a:solidFill>
              <a:srgbClr val="00C48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85800"/>
            <a:ext cx="4206240" cy="4114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7589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758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</a:rPr>
              <a:t>ADVANTAGES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7472" y="1197864"/>
            <a:ext cx="91440" cy="9144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116128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</a:rPr>
              <a:t>Available 24/7 — help anytime, anywhere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" y="1645920"/>
            <a:ext cx="91440" cy="9144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" y="160934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</a:rPr>
              <a:t>Reduces staff workload significantly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7472" y="2093976"/>
            <a:ext cx="91440" cy="9144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" y="205740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</a:rPr>
              <a:t>Instant &amp; consistent answers for all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7472" y="2542032"/>
            <a:ext cx="91440" cy="9144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" y="250545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</a:rPr>
              <a:t>Handles thousands of users at once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7472" y="2990088"/>
            <a:ext cx="91440" cy="9144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295351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</a:rPr>
              <a:t>Personalized data per student login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7472" y="3438144"/>
            <a:ext cx="91440" cy="9144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340156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</a:rPr>
              <a:t>Lowers university operational cost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47472" y="3886200"/>
            <a:ext cx="91440" cy="9144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" y="384962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</a:rPr>
              <a:t>AI learns from repeated queries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09160" y="685800"/>
            <a:ext cx="4206240" cy="4251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96167">
                <a:alpha val="4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09160" y="685800"/>
            <a:ext cx="42062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758952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38928" y="758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</a:rPr>
              <a:t>DISADVANTAGES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828032" y="1197864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92624" y="116128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A1A"/>
                </a:solidFill>
              </a:rPr>
              <a:t>Cannot handle emotional situations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828032" y="1645920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92624" y="160934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A1A"/>
                </a:solidFill>
              </a:rPr>
              <a:t>Needs continuous AI retraining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828032" y="2093976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992624" y="205740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A1A"/>
                </a:solidFill>
              </a:rPr>
              <a:t>High initial setup &amp; cost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828032" y="2542032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992624" y="250545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A1A"/>
                </a:solidFill>
              </a:rPr>
              <a:t>Limited Urdu/local language support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828032" y="2990088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92624" y="295351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A1A"/>
                </a:solidFill>
              </a:rPr>
              <a:t>Requires stable internet connection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828032" y="3438144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992624" y="340156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A1A"/>
                </a:solidFill>
              </a:rPr>
              <a:t>May give wrong answers sometimes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828032" y="3886200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992624" y="384962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1A1A"/>
                </a:solidFill>
              </a:rPr>
              <a:t>Some students prefer human support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0" y="5029200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A0"/>
                </a:solidFill>
              </a:rPr>
              <a:t>AI Campus Assistant System  |  2025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782104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Work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5760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4A8CF7"/>
          </a:solidFill>
          <a:ln w="12700">
            <a:solidFill>
              <a:srgbClr val="4A8CF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4300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0515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Multilingual Support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24128" y="136245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Add full Urdu &amp; regional language processing for wider accessibility across Pakistan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960120"/>
            <a:ext cx="64008" cy="1078992"/>
          </a:xfrm>
          <a:prstGeom prst="rect">
            <a:avLst/>
          </a:prstGeom>
          <a:solidFill>
            <a:srgbClr val="7C5CF7"/>
          </a:solidFill>
          <a:ln w="12700">
            <a:solidFill>
              <a:srgbClr val="7C5CF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143000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58968" y="10515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Dedicated Mobile App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58968" y="136245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Launch Android &amp; iOS apps with offline mode, push notifications, and biometric login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74320" y="222199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404872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4128" y="2313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LMS Integration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24128" y="26243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Connect with Moodle / Google Classroom to auto-sync assignments, grades, and deadlines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09160" y="222199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221992"/>
            <a:ext cx="64008" cy="10789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404872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58968" y="2313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Peer-to-Peer Chat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58968" y="26243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Allow students to connect with seniors and mentors through the same platform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274320" y="3483864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666744"/>
            <a:ext cx="475488" cy="4754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24128" y="3575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Voice Assistant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24128" y="38862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Enable voice-based queries so students can speak questions instead of typing them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709160" y="3483864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09160" y="3483864"/>
            <a:ext cx="64008" cy="10789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666744"/>
            <a:ext cx="475488" cy="4754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58968" y="3575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0C18"/>
                </a:solidFill>
              </a:rPr>
              <a:t>Predictive Analytics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58968" y="38862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AI predicts students at-risk of failing based on attendance and fee defaults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0" y="5035594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A0"/>
                </a:solidFill>
              </a:rPr>
              <a:t>AI Campus Assistant System  |  2025</a:t>
            </a:r>
            <a:endParaRPr lang="en-US" sz="750" dirty="0"/>
          </a:p>
        </p:txBody>
      </p:sp>
      <p:sp>
        <p:nvSpPr>
          <p:cNvPr id="37" name="Shape 0"/>
          <p:cNvSpPr>
            <a:spLocks noChangeArrowheads="1"/>
          </p:cNvSpPr>
          <p:nvPr/>
        </p:nvSpPr>
        <p:spPr bwMode="auto">
          <a:xfrm>
            <a:off x="0" y="0"/>
            <a:ext cx="9144000" cy="576072"/>
          </a:xfrm>
          <a:prstGeom prst="rect">
            <a:avLst/>
          </a:prstGeom>
          <a:solidFill>
            <a:srgbClr val="0A23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                              </a:t>
            </a:r>
            <a:r>
              <a:rPr lang="en-US" sz="2800" b="1" dirty="0" smtClean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</a:t>
            </a:r>
            <a:r>
              <a:rPr lang="en-US" sz="28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495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0"/>
          <p:cNvSpPr>
            <a:spLocks noChangeArrowheads="1"/>
          </p:cNvSpPr>
          <p:nvPr/>
        </p:nvSpPr>
        <p:spPr bwMode="auto">
          <a:xfrm>
            <a:off x="0" y="0"/>
            <a:ext cx="9144000" cy="73025"/>
          </a:xfrm>
          <a:prstGeom prst="rect">
            <a:avLst/>
          </a:prstGeom>
          <a:solidFill>
            <a:srgbClr val="F5A6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1" name="Shape 1"/>
          <p:cNvSpPr>
            <a:spLocks noChangeArrowheads="1"/>
          </p:cNvSpPr>
          <p:nvPr/>
        </p:nvSpPr>
        <p:spPr bwMode="auto">
          <a:xfrm>
            <a:off x="0" y="5070475"/>
            <a:ext cx="9144000" cy="73025"/>
          </a:xfrm>
          <a:prstGeom prst="rect">
            <a:avLst/>
          </a:prstGeom>
          <a:solidFill>
            <a:srgbClr val="F5A6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125" y="1006475"/>
            <a:ext cx="8413750" cy="712788"/>
          </a:xfrm>
          <a:prstGeom prst="rect">
            <a:avLst/>
          </a:prstGeom>
          <a:solidFill>
            <a:srgbClr val="1A3A5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414" name="Shape 4"/>
          <p:cNvSpPr>
            <a:spLocks noChangeArrowheads="1"/>
          </p:cNvSpPr>
          <p:nvPr/>
        </p:nvSpPr>
        <p:spPr bwMode="auto">
          <a:xfrm>
            <a:off x="457200" y="1096963"/>
            <a:ext cx="476250" cy="476250"/>
          </a:xfrm>
          <a:prstGeom prst="ellipse">
            <a:avLst/>
          </a:prstGeom>
          <a:solidFill>
            <a:srgbClr val="F5A6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5" name="Text 5"/>
          <p:cNvSpPr>
            <a:spLocks noChangeArrowheads="1"/>
          </p:cNvSpPr>
          <p:nvPr/>
        </p:nvSpPr>
        <p:spPr bwMode="auto">
          <a:xfrm>
            <a:off x="457200" y="1096963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400" b="1">
                <a:solidFill>
                  <a:srgbClr val="0A2342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1</a:t>
            </a:r>
            <a:endParaRPr lang="en-US" sz="1400"/>
          </a:p>
        </p:txBody>
      </p:sp>
      <p:sp>
        <p:nvSpPr>
          <p:cNvPr id="17416" name="Text 6"/>
          <p:cNvSpPr>
            <a:spLocks noChangeArrowheads="1"/>
          </p:cNvSpPr>
          <p:nvPr/>
        </p:nvSpPr>
        <p:spPr bwMode="auto">
          <a:xfrm>
            <a:off x="1050925" y="1006475"/>
            <a:ext cx="7589838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400" dirty="0">
                <a:solidFill>
                  <a:schemeClr val="bg1"/>
                </a:solidFill>
              </a:rPr>
              <a:t>The modular design makes the system easy to maintain and scale for future needs</a:t>
            </a:r>
            <a:r>
              <a:rPr lang="en-US" sz="1400" dirty="0"/>
              <a:t>.</a:t>
            </a:r>
          </a:p>
        </p:txBody>
      </p:sp>
      <p:sp>
        <p:nvSpPr>
          <p:cNvPr id="9" name="Shape 7"/>
          <p:cNvSpPr/>
          <p:nvPr/>
        </p:nvSpPr>
        <p:spPr>
          <a:xfrm>
            <a:off x="365125" y="1828800"/>
            <a:ext cx="8413750" cy="712788"/>
          </a:xfrm>
          <a:prstGeom prst="rect">
            <a:avLst/>
          </a:prstGeom>
          <a:solidFill>
            <a:srgbClr val="1A3A5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418" name="Shape 8"/>
          <p:cNvSpPr>
            <a:spLocks noChangeArrowheads="1"/>
          </p:cNvSpPr>
          <p:nvPr/>
        </p:nvSpPr>
        <p:spPr bwMode="auto">
          <a:xfrm>
            <a:off x="457200" y="1920875"/>
            <a:ext cx="476250" cy="474663"/>
          </a:xfrm>
          <a:prstGeom prst="ellipse">
            <a:avLst/>
          </a:prstGeom>
          <a:solidFill>
            <a:srgbClr val="F5A6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9" name="Text 9"/>
          <p:cNvSpPr>
            <a:spLocks noChangeArrowheads="1"/>
          </p:cNvSpPr>
          <p:nvPr/>
        </p:nvSpPr>
        <p:spPr bwMode="auto">
          <a:xfrm>
            <a:off x="457200" y="1920875"/>
            <a:ext cx="476250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400" b="1">
                <a:solidFill>
                  <a:srgbClr val="0A2342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2</a:t>
            </a:r>
            <a:endParaRPr lang="en-US" sz="1400"/>
          </a:p>
        </p:txBody>
      </p:sp>
      <p:sp>
        <p:nvSpPr>
          <p:cNvPr id="17420" name="Text 10"/>
          <p:cNvSpPr>
            <a:spLocks noChangeArrowheads="1"/>
          </p:cNvSpPr>
          <p:nvPr/>
        </p:nvSpPr>
        <p:spPr bwMode="auto">
          <a:xfrm>
            <a:off x="1050925" y="1828800"/>
            <a:ext cx="7589838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125" y="2651125"/>
            <a:ext cx="8413750" cy="714375"/>
          </a:xfrm>
          <a:prstGeom prst="rect">
            <a:avLst/>
          </a:prstGeom>
          <a:solidFill>
            <a:srgbClr val="1A3A5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422" name="Shape 12"/>
          <p:cNvSpPr>
            <a:spLocks noChangeArrowheads="1"/>
          </p:cNvSpPr>
          <p:nvPr/>
        </p:nvSpPr>
        <p:spPr bwMode="auto">
          <a:xfrm>
            <a:off x="457200" y="2743200"/>
            <a:ext cx="476250" cy="476250"/>
          </a:xfrm>
          <a:prstGeom prst="ellipse">
            <a:avLst/>
          </a:prstGeom>
          <a:solidFill>
            <a:srgbClr val="F5A6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3" name="Text 13"/>
          <p:cNvSpPr>
            <a:spLocks noChangeArrowheads="1"/>
          </p:cNvSpPr>
          <p:nvPr/>
        </p:nvSpPr>
        <p:spPr bwMode="auto">
          <a:xfrm>
            <a:off x="457200" y="2743200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400" b="1">
                <a:solidFill>
                  <a:srgbClr val="0A2342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3</a:t>
            </a:r>
            <a:endParaRPr lang="en-US" sz="1400"/>
          </a:p>
        </p:txBody>
      </p:sp>
      <p:sp>
        <p:nvSpPr>
          <p:cNvPr id="17424" name="Text 14"/>
          <p:cNvSpPr>
            <a:spLocks noChangeArrowheads="1"/>
          </p:cNvSpPr>
          <p:nvPr/>
        </p:nvSpPr>
        <p:spPr bwMode="auto">
          <a:xfrm>
            <a:off x="1050925" y="2651125"/>
            <a:ext cx="7589838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400" dirty="0" smtClean="0">
                <a:solidFill>
                  <a:schemeClr val="bg1"/>
                </a:solidFill>
              </a:rPr>
              <a:t>Strong </a:t>
            </a:r>
            <a:r>
              <a:rPr lang="en-US" sz="1400" dirty="0">
                <a:solidFill>
                  <a:schemeClr val="bg1"/>
                </a:solidFill>
              </a:rPr>
              <a:t>security protocols ensure that all institutional data remains private and safe.</a:t>
            </a:r>
          </a:p>
          <a:p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125" y="3475038"/>
            <a:ext cx="8413750" cy="712787"/>
          </a:xfrm>
          <a:prstGeom prst="rect">
            <a:avLst/>
          </a:prstGeom>
          <a:solidFill>
            <a:srgbClr val="1A3A5C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426" name="Shape 16"/>
          <p:cNvSpPr>
            <a:spLocks noChangeArrowheads="1"/>
          </p:cNvSpPr>
          <p:nvPr/>
        </p:nvSpPr>
        <p:spPr bwMode="auto">
          <a:xfrm>
            <a:off x="457200" y="3565525"/>
            <a:ext cx="476250" cy="476250"/>
          </a:xfrm>
          <a:prstGeom prst="ellipse">
            <a:avLst/>
          </a:prstGeom>
          <a:solidFill>
            <a:srgbClr val="F5A6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7" name="Text 17"/>
          <p:cNvSpPr>
            <a:spLocks noChangeArrowheads="1"/>
          </p:cNvSpPr>
          <p:nvPr/>
        </p:nvSpPr>
        <p:spPr bwMode="auto">
          <a:xfrm>
            <a:off x="457200" y="3565525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400" b="1">
                <a:solidFill>
                  <a:srgbClr val="0A2342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4</a:t>
            </a:r>
            <a:endParaRPr lang="en-US" sz="1400"/>
          </a:p>
        </p:txBody>
      </p:sp>
      <p:sp>
        <p:nvSpPr>
          <p:cNvPr id="17428" name="Text 18"/>
          <p:cNvSpPr>
            <a:spLocks noChangeArrowheads="1"/>
          </p:cNvSpPr>
          <p:nvPr/>
        </p:nvSpPr>
        <p:spPr bwMode="auto">
          <a:xfrm>
            <a:off x="1050925" y="3475038"/>
            <a:ext cx="7589838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1400" dirty="0">
                <a:solidFill>
                  <a:schemeClr val="bg1"/>
                </a:solidFill>
              </a:rPr>
              <a:t>Routine tasks like grading and attendance are now fully automated and fast.</a:t>
            </a:r>
          </a:p>
        </p:txBody>
      </p:sp>
      <p:sp>
        <p:nvSpPr>
          <p:cNvPr id="17429" name="Text 20"/>
          <p:cNvSpPr>
            <a:spLocks noChangeArrowheads="1"/>
          </p:cNvSpPr>
          <p:nvPr/>
        </p:nvSpPr>
        <p:spPr bwMode="auto">
          <a:xfrm>
            <a:off x="2286000" y="4343400"/>
            <a:ext cx="45720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en-US" sz="1600"/>
          </a:p>
        </p:txBody>
      </p:sp>
      <p:sp>
        <p:nvSpPr>
          <p:cNvPr id="22" name="Shape 0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0"/>
              <a:cs typeface="Arial Black" panose="020B0A04020102020204" pitchFamily="34" charset="0"/>
            </a:endParaRPr>
          </a:p>
          <a:p>
            <a:pPr algn="ctr"/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CONCLUSION</a:t>
            </a: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163782" y="1844880"/>
            <a:ext cx="7097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Integrated AI provides instant academic and teaching support for all </a:t>
            </a:r>
            <a:r>
              <a:rPr lang="en-US" dirty="0" smtClean="0">
                <a:solidFill>
                  <a:schemeClr val="bg1"/>
                </a:solidFill>
              </a:rPr>
              <a:t>users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165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hape 0"/>
          <p:cNvSpPr>
            <a:spLocks noChangeArrowheads="1"/>
          </p:cNvSpPr>
          <p:nvPr/>
        </p:nvSpPr>
        <p:spPr bwMode="auto">
          <a:xfrm>
            <a:off x="0" y="0"/>
            <a:ext cx="9144000" cy="73025"/>
          </a:xfrm>
          <a:prstGeom prst="rect">
            <a:avLst/>
          </a:prstGeom>
          <a:solidFill>
            <a:srgbClr val="F5A6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5" name="Shape 1"/>
          <p:cNvSpPr>
            <a:spLocks noChangeArrowheads="1"/>
          </p:cNvSpPr>
          <p:nvPr/>
        </p:nvSpPr>
        <p:spPr bwMode="auto">
          <a:xfrm>
            <a:off x="0" y="5070475"/>
            <a:ext cx="9144000" cy="73025"/>
          </a:xfrm>
          <a:prstGeom prst="rect">
            <a:avLst/>
          </a:prstGeom>
          <a:solidFill>
            <a:srgbClr val="F5A6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2550538"/>
            <a:ext cx="4659312" cy="639762"/>
          </a:xfrm>
          <a:prstGeom prst="rect">
            <a:avLst/>
          </a:prstGeom>
          <a:solidFill>
            <a:srgbClr val="F5A623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437" name="Text 20"/>
          <p:cNvSpPr>
            <a:spLocks noChangeArrowheads="1"/>
          </p:cNvSpPr>
          <p:nvPr/>
        </p:nvSpPr>
        <p:spPr bwMode="auto">
          <a:xfrm>
            <a:off x="2286000" y="2049463"/>
            <a:ext cx="4615656" cy="820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0A2342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 </a:t>
            </a:r>
            <a:endParaRPr lang="en-US" sz="2800" b="1" dirty="0" smtClean="0">
              <a:solidFill>
                <a:srgbClr val="0A2342"/>
              </a:solidFill>
              <a:latin typeface="Arial Black" panose="020B0A04020102020204" pitchFamily="34" charset="0"/>
              <a:ea typeface="Arial Black" panose="020B0A04020102020204" pitchFamily="34" charset="0"/>
              <a:cs typeface="Arial Black" panose="020B0A04020102020204" pitchFamily="34" charset="0"/>
            </a:endParaRPr>
          </a:p>
          <a:p>
            <a:pPr algn="ctr"/>
            <a:endParaRPr lang="en-US" sz="2800" b="1" dirty="0" smtClean="0">
              <a:solidFill>
                <a:srgbClr val="0A2342"/>
              </a:solidFill>
              <a:latin typeface="Arial Black" panose="020B0A04020102020204" pitchFamily="34" charset="0"/>
              <a:ea typeface="Arial Black" panose="020B0A04020102020204" pitchFamily="34" charset="0"/>
              <a:cs typeface="Arial Black" panose="020B0A04020102020204" pitchFamily="34" charset="0"/>
            </a:endParaRPr>
          </a:p>
          <a:p>
            <a:pPr algn="ctr"/>
            <a:r>
              <a:rPr lang="en-US" sz="2800" b="1" dirty="0" smtClean="0">
                <a:solidFill>
                  <a:srgbClr val="0A2342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Any Questions? 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hape 0"/>
          <p:cNvSpPr>
            <a:spLocks noChangeArrowheads="1"/>
          </p:cNvSpPr>
          <p:nvPr/>
        </p:nvSpPr>
        <p:spPr bwMode="auto">
          <a:xfrm>
            <a:off x="0" y="0"/>
            <a:ext cx="9144000" cy="73025"/>
          </a:xfrm>
          <a:prstGeom prst="rect">
            <a:avLst/>
          </a:prstGeom>
          <a:solidFill>
            <a:srgbClr val="F5A6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59" name="Shape 1"/>
          <p:cNvSpPr>
            <a:spLocks noChangeArrowheads="1"/>
          </p:cNvSpPr>
          <p:nvPr/>
        </p:nvSpPr>
        <p:spPr bwMode="auto">
          <a:xfrm>
            <a:off x="0" y="5070475"/>
            <a:ext cx="9144000" cy="73025"/>
          </a:xfrm>
          <a:prstGeom prst="rect">
            <a:avLst/>
          </a:prstGeom>
          <a:solidFill>
            <a:srgbClr val="F5A6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198688" y="2033588"/>
            <a:ext cx="4659312" cy="639762"/>
          </a:xfrm>
          <a:prstGeom prst="rect">
            <a:avLst/>
          </a:prstGeom>
          <a:solidFill>
            <a:srgbClr val="F5A623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461" name="Text 20"/>
          <p:cNvSpPr>
            <a:spLocks noChangeArrowheads="1"/>
          </p:cNvSpPr>
          <p:nvPr/>
        </p:nvSpPr>
        <p:spPr bwMode="auto">
          <a:xfrm>
            <a:off x="2286000" y="2049463"/>
            <a:ext cx="45720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800" b="1" dirty="0">
                <a:solidFill>
                  <a:srgbClr val="0A2342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 THANK YOU! 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643</Words>
  <Application>Microsoft Office PowerPoint</Application>
  <PresentationFormat>On-screen Show (16:9)</PresentationFormat>
  <Paragraphs>154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and MapReduce Basics</dc:title>
  <dc:subject>PptxGenJS Presentation</dc:subject>
  <dc:creator>PptxGenJS</dc:creator>
  <cp:lastModifiedBy>falcon</cp:lastModifiedBy>
  <cp:revision>26</cp:revision>
  <dcterms:created xsi:type="dcterms:W3CDTF">2026-05-17T01:51:00Z</dcterms:created>
  <dcterms:modified xsi:type="dcterms:W3CDTF">2026-06-06T16:33:57Z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5D1FF3E364304BD8818A109F03D6D217_12</vt:lpwstr>
  </property>
</Properties>
</file>
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73" r:id="rId3"/>
    <p:sldId id="287" r:id="rId4"/>
    <p:sldId id="278" r:id="rId5"/>
    <p:sldId id="276" r:id="rId6"/>
    <p:sldId id="288" r:id="rId7"/>
    <p:sldId id="279" r:id="rId8"/>
    <p:sldId id="281" r:id="rId9"/>
    <p:sldId id="285" r:id="rId10"/>
    <p:sldId id="283" r:id="rId11"/>
    <p:sldId id="286" r:id="rId12"/>
    <p:sldId id="274" r:id="rId13"/>
    <p:sldId id="275" r:id="rId14"/>
  </p:sldIdLst>
  <p:sldSz cx="9144000" cy="5143500" type="screen16x9"/>
  <p:notesSz cx="51435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584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6" autoAdjust="0"/>
    <p:restoredTop sz="94610" autoAdjust="0"/>
  </p:normalViewPr>
  <p:slideViewPr>
    <p:cSldViewPr snapToGrid="0" snapToObjects="1">
      <p:cViewPr varScale="1">
        <p:scale>
          <a:sx n="85" d="100"/>
          <a:sy n="85" d="100"/>
        </p:scale>
        <p:origin x="-192" y="-55"/>
      </p:cViewPr>
      <p:guideLst>
        <p:guide orient="horz" pos="1584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569881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20484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A2E1AD9E-7111-4D24-A62D-48B180903F6B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476250" y="685800"/>
            <a:ext cx="6096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514350" y="4343400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21508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2913063" y="8685213"/>
            <a:ext cx="222885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fld id="{17543659-4817-4CF0-A65E-2051BA69A518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2765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EBA65AC2-E6A7-467B-A9D4-3128397F899A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2765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EBA65AC2-E6A7-467B-A9D4-3128397F899A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6867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36868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EECC9F37-9FC0-4483-BB31-2A1FA1ECB3F2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7891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3789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A86745C4-CA27-4B9C-954F-A8E9499CBEC3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 bwMode="auto">
          <a:xfrm>
            <a:off x="-2147483648" y="-2147483648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0" y="0"/>
            <a:ext cx="0" cy="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97EC7384-82AF-4D3E-BE1B-93FEB32609F3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hape 0"/>
          <p:cNvSpPr>
            <a:spLocks noChangeArrowheads="1"/>
          </p:cNvSpPr>
          <p:nvPr/>
        </p:nvSpPr>
        <p:spPr bwMode="auto">
          <a:xfrm>
            <a:off x="0" y="0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9275" y="1096963"/>
            <a:ext cx="8045450" cy="823912"/>
          </a:xfrm>
          <a:prstGeom prst="rect">
            <a:avLst/>
          </a:prstGeom>
          <a:noFill/>
        </p:spPr>
        <p:txBody>
          <a:bodyPr anchor="ctr"/>
          <a:lstStyle/>
          <a:p>
            <a:pPr marL="0" indent="0">
              <a:buNone/>
            </a:pPr>
            <a:r>
              <a:rPr lang="en-US" sz="4400" b="1" dirty="0" smtClean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      </a:t>
            </a:r>
          </a:p>
          <a:p>
            <a:pPr marL="0" indent="0">
              <a:buNone/>
            </a:pPr>
            <a:endParaRPr lang="en-US" sz="4400" b="1" dirty="0">
              <a:solidFill>
                <a:schemeClr val="bg1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  <a:p>
            <a:pPr marL="0" indent="0">
              <a:buNone/>
            </a:pPr>
            <a:r>
              <a:rPr lang="en-US" sz="4400" b="1" dirty="0" smtClean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Campus</a:t>
            </a:r>
          </a:p>
          <a:p>
            <a:pPr marL="0" indent="0">
              <a:buNone/>
            </a:pPr>
            <a:r>
              <a:rPr lang="en-US" sz="4400" b="1" dirty="0" smtClean="0">
                <a:solidFill>
                  <a:srgbClr val="0070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Assistant </a:t>
            </a:r>
            <a:r>
              <a:rPr lang="en-US" sz="4400" b="1" dirty="0">
                <a:solidFill>
                  <a:srgbClr val="0070C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</a:t>
            </a:r>
            <a:endParaRPr lang="en-US" sz="4400" dirty="0">
              <a:solidFill>
                <a:srgbClr val="0070C0"/>
              </a:solidFill>
            </a:endParaRPr>
          </a:p>
          <a:p>
            <a:pPr marL="0" indent="0">
              <a:buNone/>
            </a:pPr>
            <a:endParaRPr lang="en-US" sz="4400" b="1" dirty="0">
              <a:solidFill>
                <a:schemeClr val="bg1"/>
              </a:solidFill>
              <a:latin typeface="Arial Black" pitchFamily="34" charset="0"/>
              <a:ea typeface="Arial Black" pitchFamily="34" charset="-122"/>
              <a:cs typeface="Arial Black" pitchFamily="34" charset="-120"/>
            </a:endParaRPr>
          </a:p>
        </p:txBody>
      </p:sp>
      <p:sp>
        <p:nvSpPr>
          <p:cNvPr id="1028" name="Text 2"/>
          <p:cNvSpPr>
            <a:spLocks noChangeArrowheads="1"/>
          </p:cNvSpPr>
          <p:nvPr/>
        </p:nvSpPr>
        <p:spPr bwMode="auto">
          <a:xfrm>
            <a:off x="2284241" y="2834481"/>
            <a:ext cx="8045450" cy="50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9275" y="2422525"/>
            <a:ext cx="8045450" cy="823913"/>
          </a:xfrm>
          <a:prstGeom prst="rect">
            <a:avLst/>
          </a:prstGeom>
          <a:noFill/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4400" dirty="0">
              <a:latin typeface="+mn-lt"/>
              <a:cs typeface="+mn-cs"/>
            </a:endParaRPr>
          </a:p>
        </p:txBody>
      </p:sp>
      <p:sp>
        <p:nvSpPr>
          <p:cNvPr id="10" name="Text 7"/>
          <p:cNvSpPr>
            <a:spLocks noChangeArrowheads="1"/>
          </p:cNvSpPr>
          <p:nvPr/>
        </p:nvSpPr>
        <p:spPr bwMode="auto">
          <a:xfrm>
            <a:off x="415076" y="346352"/>
            <a:ext cx="4687103" cy="41148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anchor="ctr"/>
          <a:lstStyle/>
          <a:p>
            <a:pPr algn="ctr">
              <a:tabLst>
                <a:tab pos="231775" algn="l"/>
              </a:tabLst>
            </a:pPr>
            <a:r>
              <a:rPr lang="en-US" sz="2000" b="1" dirty="0">
                <a:solidFill>
                  <a:srgbClr val="FFFFFF"/>
                </a:solidFill>
              </a:rPr>
              <a:t>🎓 </a:t>
            </a:r>
            <a:r>
              <a:rPr lang="en-US" sz="2000" i="1" dirty="0">
                <a:solidFill>
                  <a:srgbClr val="E9ECEF"/>
                </a:solidFill>
                <a:cs typeface="Calibri" panose="020F0502020204030204" pitchFamily="34" charset="0"/>
              </a:rPr>
              <a:t>Advanced </a:t>
            </a:r>
            <a:r>
              <a:rPr lang="en-US" sz="2000" i="1" dirty="0" smtClean="0">
                <a:solidFill>
                  <a:srgbClr val="E9ECEF"/>
                </a:solidFill>
                <a:cs typeface="Calibri" panose="020F0502020204030204" pitchFamily="34" charset="0"/>
              </a:rPr>
              <a:t> </a:t>
            </a:r>
            <a:r>
              <a:rPr lang="en-US" sz="2000" i="1" dirty="0">
                <a:solidFill>
                  <a:srgbClr val="E9ECEF"/>
                </a:solidFill>
                <a:cs typeface="Calibri" panose="020F0502020204030204" pitchFamily="34" charset="0"/>
              </a:rPr>
              <a:t>Visual Programming</a:t>
            </a:r>
            <a:r>
              <a:rPr lang="en-US" sz="2000" b="1" dirty="0" smtClean="0">
                <a:solidFill>
                  <a:srgbClr val="FFFFFF"/>
                </a:solidFill>
              </a:rPr>
              <a:t> </a:t>
            </a:r>
            <a:r>
              <a:rPr lang="en-US" sz="2000" b="1" dirty="0">
                <a:solidFill>
                  <a:srgbClr val="FFFFFF"/>
                </a:solidFill>
              </a:rPr>
              <a:t>PROJECT</a:t>
            </a:r>
            <a:endParaRPr lang="en-US" sz="20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9710" y="2710070"/>
            <a:ext cx="2828853" cy="20285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1"/>
          <p:cNvSpPr>
            <a:spLocks noChangeArrowheads="1"/>
          </p:cNvSpPr>
          <p:nvPr/>
        </p:nvSpPr>
        <p:spPr bwMode="auto">
          <a:xfrm>
            <a:off x="184150" y="-15875"/>
            <a:ext cx="777240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2000" b="1">
                <a:solidFill>
                  <a:schemeClr val="bg1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Presented By:</a:t>
            </a:r>
          </a:p>
        </p:txBody>
      </p:sp>
      <p:sp>
        <p:nvSpPr>
          <p:cNvPr id="37" name="Text 34"/>
          <p:cNvSpPr/>
          <p:nvPr/>
        </p:nvSpPr>
        <p:spPr>
          <a:xfrm>
            <a:off x="1689100" y="1154113"/>
            <a:ext cx="4624388" cy="1568450"/>
          </a:xfrm>
          <a:prstGeom prst="rect">
            <a:avLst/>
          </a:prstGeom>
          <a:noFill/>
        </p:spPr>
        <p:txBody>
          <a:bodyPr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>
                <a:solidFill>
                  <a:srgbClr val="4A9FE8"/>
                </a:solidFill>
                <a:latin typeface="+mn-lt"/>
                <a:cs typeface="+mn-cs"/>
              </a:rPr>
              <a:t> Laiba Naeem (</a:t>
            </a:r>
            <a:r>
              <a:rPr lang="en-US" sz="2000" b="1" dirty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232201058)</a:t>
            </a:r>
            <a:endParaRPr lang="en-US" sz="2000" b="1" dirty="0">
              <a:solidFill>
                <a:srgbClr val="4A9FE8"/>
              </a:solidFill>
              <a:latin typeface="+mn-lt"/>
              <a:cs typeface="+mn-cs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 smtClean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   </a:t>
            </a:r>
            <a:r>
              <a:rPr lang="en-US" sz="2000" b="1" dirty="0" err="1" smtClean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Nayyab</a:t>
            </a:r>
            <a:r>
              <a:rPr lang="en-US" sz="2000" b="1" dirty="0" smtClean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 </a:t>
            </a:r>
            <a:r>
              <a:rPr lang="en-US" sz="2000" b="1" dirty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Gul  ( 232201085)</a:t>
            </a:r>
            <a:r>
              <a:rPr lang="en-US" sz="1150" b="1" dirty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 </a:t>
            </a:r>
            <a:r>
              <a:rPr lang="en-US" sz="1150" dirty="0">
                <a:solidFill>
                  <a:srgbClr val="4A9FE8"/>
                </a:solidFill>
                <a:latin typeface="+mn-lt"/>
                <a:cs typeface="+mn-cs"/>
                <a:sym typeface="+mn-ea"/>
              </a:rPr>
              <a:t> </a:t>
            </a:r>
            <a:endParaRPr lang="en-US" sz="1150" dirty="0">
              <a:latin typeface="+mn-lt"/>
              <a:cs typeface="+mn-cs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150" dirty="0">
              <a:latin typeface="+mn-lt"/>
              <a:cs typeface="+mn-cs"/>
            </a:endParaRPr>
          </a:p>
        </p:txBody>
      </p:sp>
      <p:sp>
        <p:nvSpPr>
          <p:cNvPr id="2052" name="Text 1"/>
          <p:cNvSpPr>
            <a:spLocks noChangeArrowheads="1"/>
          </p:cNvSpPr>
          <p:nvPr/>
        </p:nvSpPr>
        <p:spPr bwMode="auto">
          <a:xfrm>
            <a:off x="266700" y="2393950"/>
            <a:ext cx="7772400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2000" b="1">
                <a:solidFill>
                  <a:schemeClr val="bg1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Presented To:</a:t>
            </a:r>
          </a:p>
        </p:txBody>
      </p:sp>
      <p:sp>
        <p:nvSpPr>
          <p:cNvPr id="15" name="Text 34"/>
          <p:cNvSpPr/>
          <p:nvPr/>
        </p:nvSpPr>
        <p:spPr>
          <a:xfrm>
            <a:off x="1689100" y="3675380"/>
            <a:ext cx="2921000" cy="822325"/>
          </a:xfrm>
          <a:prstGeom prst="rect">
            <a:avLst/>
          </a:prstGeom>
          <a:noFill/>
        </p:spPr>
        <p:txBody>
          <a:bodyPr anchor="ctr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2000" b="1" dirty="0">
                <a:solidFill>
                  <a:srgbClr val="4A9FE8"/>
                </a:solidFill>
                <a:latin typeface="+mn-lt"/>
                <a:cs typeface="+mn-cs"/>
              </a:rPr>
              <a:t>     </a:t>
            </a:r>
            <a:r>
              <a:rPr lang="en-US" sz="2000" b="1" dirty="0" smtClean="0">
                <a:solidFill>
                  <a:srgbClr val="4A9FE8"/>
                </a:solidFill>
                <a:latin typeface="+mn-lt"/>
                <a:cs typeface="+mn-cs"/>
              </a:rPr>
              <a:t>Sir </a:t>
            </a:r>
            <a:r>
              <a:rPr lang="en-US" sz="2000" b="1" dirty="0" err="1" smtClean="0">
                <a:solidFill>
                  <a:srgbClr val="4A9FE8"/>
                </a:solidFill>
                <a:latin typeface="+mn-lt"/>
                <a:cs typeface="+mn-cs"/>
              </a:rPr>
              <a:t>Uzair</a:t>
            </a:r>
            <a:endParaRPr lang="en-US" sz="1150" b="1" dirty="0">
              <a:latin typeface="+mn-lt"/>
              <a:cs typeface="+mn-cs"/>
            </a:endParaRPr>
          </a:p>
        </p:txBody>
      </p:sp>
      <p:sp>
        <p:nvSpPr>
          <p:cNvPr id="2054" name="Shape 0"/>
          <p:cNvSpPr>
            <a:spLocks noChangeArrowheads="1"/>
          </p:cNvSpPr>
          <p:nvPr/>
        </p:nvSpPr>
        <p:spPr bwMode="auto">
          <a:xfrm>
            <a:off x="0" y="-3175"/>
            <a:ext cx="9144000" cy="914400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5" name="Rectangle 3"/>
          <p:cNvSpPr>
            <a:spLocks noChangeArrowheads="1"/>
          </p:cNvSpPr>
          <p:nvPr/>
        </p:nvSpPr>
        <p:spPr bwMode="auto">
          <a:xfrm>
            <a:off x="3598863" y="2387600"/>
            <a:ext cx="19462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Presented By:</a:t>
            </a:r>
          </a:p>
        </p:txBody>
      </p:sp>
      <p:sp>
        <p:nvSpPr>
          <p:cNvPr id="2056" name="Rectangle 4"/>
          <p:cNvSpPr>
            <a:spLocks noChangeArrowheads="1"/>
          </p:cNvSpPr>
          <p:nvPr/>
        </p:nvSpPr>
        <p:spPr bwMode="auto">
          <a:xfrm>
            <a:off x="352425" y="193675"/>
            <a:ext cx="1944688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Presented By:</a:t>
            </a:r>
          </a:p>
        </p:txBody>
      </p:sp>
      <p:sp>
        <p:nvSpPr>
          <p:cNvPr id="2057" name="Shape 0"/>
          <p:cNvSpPr>
            <a:spLocks noChangeArrowheads="1"/>
          </p:cNvSpPr>
          <p:nvPr/>
        </p:nvSpPr>
        <p:spPr bwMode="auto">
          <a:xfrm>
            <a:off x="-20638" y="2681288"/>
            <a:ext cx="9144001" cy="914400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8" name="Rectangle 13"/>
          <p:cNvSpPr>
            <a:spLocks noChangeArrowheads="1"/>
          </p:cNvSpPr>
          <p:nvPr/>
        </p:nvSpPr>
        <p:spPr bwMode="auto">
          <a:xfrm>
            <a:off x="331788" y="2878138"/>
            <a:ext cx="192881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b="1">
                <a:solidFill>
                  <a:schemeClr val="bg1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Presented To: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5840" y="914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Campus Assistant System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5486400" y="2560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82880" y="1078992"/>
            <a:ext cx="2697480" cy="3840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82880" y="1078992"/>
            <a:ext cx="269748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28600" y="10789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74320" y="1481328"/>
            <a:ext cx="2514600" cy="3337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Campus Assistant is a smart, web-based chatbot for university services built using ASP.NET Core 8.0 and AI technology.
</a:t>
            </a:r>
            <a:r>
              <a:rPr lang="en-US" sz="9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user roles:
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Student
• Teacher
• Admin
</a:t>
            </a: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24/7</a:t>
            </a: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students no longer need to visit the office for admissions, fees, results, or timetables.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154680" y="1078992"/>
            <a:ext cx="2697480" cy="3840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154680" y="1078992"/>
            <a:ext cx="269748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0" y="107899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200400" y="1536192"/>
            <a:ext cx="54864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10128" y="1536192"/>
            <a:ext cx="24688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wait in long queues for basic information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200400" y="2048256"/>
            <a:ext cx="260604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200400" y="2176272"/>
            <a:ext cx="54864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310128" y="2176272"/>
            <a:ext cx="24688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offices closed nights &amp; weekends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0" y="2688336"/>
            <a:ext cx="260604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00400" y="2816352"/>
            <a:ext cx="54864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0128" y="2816352"/>
            <a:ext cx="24688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spend too much time on repeated questions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00400" y="3328416"/>
            <a:ext cx="260604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200400" y="3456432"/>
            <a:ext cx="54864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310128" y="3456432"/>
            <a:ext cx="24688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scattered across many websites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200400" y="3968496"/>
            <a:ext cx="260604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200400" y="4096512"/>
            <a:ext cx="54864" cy="47548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310128" y="4096512"/>
            <a:ext cx="2468880" cy="4754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personalized support for individual students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126480" y="1078992"/>
            <a:ext cx="2834640" cy="3840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26480" y="1078992"/>
            <a:ext cx="2834640" cy="347472"/>
          </a:xfrm>
          <a:prstGeom prst="rect">
            <a:avLst/>
          </a:prstGeom>
          <a:solidFill>
            <a:srgbClr val="0D7C3D"/>
          </a:solidFill>
          <a:ln w="12700">
            <a:solidFill>
              <a:srgbClr val="0D7C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72200" y="107899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09344"/>
            <a:ext cx="228600" cy="22860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455664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AI chatbot to answer campus queries</a:t>
            </a:r>
            <a:endParaRPr lang="en-US" sz="900" dirty="0"/>
          </a:p>
        </p:txBody>
      </p:sp>
      <p:sp>
        <p:nvSpPr>
          <p:cNvPr id="34" name="Shape 30"/>
          <p:cNvSpPr/>
          <p:nvPr/>
        </p:nvSpPr>
        <p:spPr>
          <a:xfrm>
            <a:off x="6172200" y="2029968"/>
            <a:ext cx="269748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157984"/>
            <a:ext cx="228600" cy="22860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455664" y="208483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daily workload for admin staff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6172200" y="2578608"/>
            <a:ext cx="269748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706624"/>
            <a:ext cx="228600" cy="22860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455664" y="263347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24/7 support for all students</a:t>
            </a:r>
            <a:endParaRPr lang="en-US" sz="900" dirty="0"/>
          </a:p>
        </p:txBody>
      </p:sp>
      <p:sp>
        <p:nvSpPr>
          <p:cNvPr id="40" name="Shape 34"/>
          <p:cNvSpPr/>
          <p:nvPr/>
        </p:nvSpPr>
        <p:spPr>
          <a:xfrm>
            <a:off x="6172200" y="3127248"/>
            <a:ext cx="269748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255264"/>
            <a:ext cx="228600" cy="22860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6455664" y="318211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easy-to-use portals for each role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6172200" y="3675888"/>
            <a:ext cx="269748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3803904"/>
            <a:ext cx="228600" cy="22860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6455664" y="373075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real-time access to important data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6172200" y="4224528"/>
            <a:ext cx="2697480" cy="9144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352544"/>
            <a:ext cx="228600" cy="228600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6455664" y="4279392"/>
            <a:ext cx="24231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helpful analytics for the admin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87902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0C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System Modules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5760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FA0"/>
                </a:solidFill>
              </a:rPr>
              <a:t>3 core user roles — each with dedicated features and access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960120"/>
            <a:ext cx="2788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F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788920" cy="777240"/>
          </a:xfrm>
          <a:prstGeom prst="rect">
            <a:avLst/>
          </a:prstGeom>
          <a:solidFill>
            <a:srgbClr val="E8F0FF"/>
          </a:solidFill>
          <a:ln w="12700">
            <a:solidFill>
              <a:srgbClr val="4A8C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24128"/>
            <a:ext cx="530352" cy="5303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1078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Module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93192" y="1792224"/>
            <a:ext cx="2468880" cy="36576"/>
          </a:xfrm>
          <a:prstGeom prst="rect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920240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6072" y="188366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Login &amp; secure portal access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11480" y="2395728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235915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View timetable &amp; exam schedule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11480" y="2871216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76072" y="283464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Check fee status &amp; pay online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11480" y="3346704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76072" y="331012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View results &amp; CGPA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11480" y="3822192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6072" y="378561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Chat with AI assistant 24/7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11480" y="4297680"/>
            <a:ext cx="91440" cy="91440"/>
          </a:xfrm>
          <a:prstGeom prst="ellipse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6072" y="42611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Receive exam &amp; fee notifications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172968" y="960120"/>
            <a:ext cx="2788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F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172968" y="960120"/>
            <a:ext cx="2788920" cy="777240"/>
          </a:xfrm>
          <a:prstGeom prst="rect">
            <a:avLst/>
          </a:prstGeom>
          <a:solidFill>
            <a:srgbClr val="EDE8FF"/>
          </a:solidFill>
          <a:ln w="12700">
            <a:solidFill>
              <a:srgbClr val="7C5CF7"/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0128" y="1024128"/>
            <a:ext cx="530352" cy="53035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922776" y="1078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Module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337560" y="1792224"/>
            <a:ext cx="2468880" cy="36576"/>
          </a:xfrm>
          <a:prstGeom prst="rect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3355848" y="1920240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520440" y="188366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Login with faculty credentials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3355848" y="2395728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3520440" y="235915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View assigned courses &amp; classes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3355848" y="2871216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3520440" y="283464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Manage student attendance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3355848" y="3346704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520440" y="331012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Upload course materials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3355848" y="3822192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3520440" y="378561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Post announcements for students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3355848" y="4297680"/>
            <a:ext cx="91440" cy="91440"/>
          </a:xfrm>
          <a:prstGeom prst="ellipse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520440" y="42611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Check class timetables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117336" y="960120"/>
            <a:ext cx="278892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FF"/>
            </a:solidFill>
            <a:prstDash val="solid"/>
          </a:ln>
          <a:effectLst>
            <a:outerShdw blurRad="1270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117336" y="960120"/>
            <a:ext cx="2788920" cy="777240"/>
          </a:xfrm>
          <a:prstGeom prst="rect">
            <a:avLst/>
          </a:prstGeom>
          <a:solidFill>
            <a:srgbClr val="E0F7F4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024128"/>
            <a:ext cx="530352" cy="530352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67144" y="1078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0C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Module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6281928" y="1792224"/>
            <a:ext cx="246888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6300216" y="1920240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6464808" y="188366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Full system management dashboard</a:t>
            </a:r>
            <a:endParaRPr lang="en-US" sz="1000" dirty="0"/>
          </a:p>
        </p:txBody>
      </p:sp>
      <p:sp>
        <p:nvSpPr>
          <p:cNvPr id="46" name="Shape 41"/>
          <p:cNvSpPr/>
          <p:nvPr/>
        </p:nvSpPr>
        <p:spPr>
          <a:xfrm>
            <a:off x="6300216" y="2395728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6464808" y="2359152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Add / manage students &amp; faculty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6300216" y="2871216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464808" y="283464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Update fees, timetables, results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6300216" y="3346704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464808" y="3310128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View AI query analytics &amp; reports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6300216" y="3822192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6464808" y="3785616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Manage announcements &amp; notices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300216" y="4297680"/>
            <a:ext cx="91440" cy="914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6464808" y="4261104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</a:rPr>
              <a:t>Monitor system health &amp; logs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0" y="5029200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FA0"/>
                </a:solidFill>
              </a:rPr>
              <a:t>AI Campus Assistant System  |  2025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7241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0D4B4"/>
          </a:solidFill>
          <a:ln w="12700">
            <a:solidFill>
              <a:srgbClr val="00D4B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80C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Features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120640" y="73152"/>
            <a:ext cx="1170432" cy="749808"/>
          </a:xfrm>
          <a:prstGeom prst="roundRect">
            <a:avLst>
              <a:gd name="adj" fmla="val 9756"/>
            </a:avLst>
          </a:prstGeom>
          <a:solidFill>
            <a:srgbClr val="0D1526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91440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8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24/7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20640" y="4937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8C5DC"/>
                </a:solidFill>
              </a:rPr>
              <a:t>Available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0" y="73152"/>
            <a:ext cx="1170432" cy="749808"/>
          </a:xfrm>
          <a:prstGeom prst="roundRect">
            <a:avLst>
              <a:gd name="adj" fmla="val 9756"/>
            </a:avLst>
          </a:prstGeom>
          <a:solidFill>
            <a:srgbClr val="0D1526"/>
          </a:solidFill>
          <a:ln w="12700">
            <a:solidFill>
              <a:srgbClr val="7C5C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91440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7C5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4937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8C5DC"/>
                </a:solidFill>
              </a:rPr>
              <a:t>User Roles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680960" y="73152"/>
            <a:ext cx="1170432" cy="749808"/>
          </a:xfrm>
          <a:prstGeom prst="roundRect">
            <a:avLst>
              <a:gd name="adj" fmla="val 9756"/>
            </a:avLst>
          </a:prstGeom>
          <a:solidFill>
            <a:srgbClr val="0D1526"/>
          </a:solidFill>
          <a:ln w="12700">
            <a:solidFill>
              <a:srgbClr val="00D4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80960" y="91440"/>
            <a:ext cx="1170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D4B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680960" y="4937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B8C5DC"/>
                </a:solidFill>
              </a:rPr>
              <a:t>Powered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960120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960120"/>
            <a:ext cx="64008" cy="1078992"/>
          </a:xfrm>
          <a:prstGeom prst="rect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143000"/>
            <a:ext cx="475488" cy="47548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24128" y="1051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AI Chat Assistant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24128" y="1362456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NLP-powered bot answers fee, schedule, result questions in plain language instantly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709160" y="960120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709160" y="960120"/>
            <a:ext cx="64008" cy="1078992"/>
          </a:xfrm>
          <a:prstGeom prst="rect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1143000"/>
            <a:ext cx="475488" cy="47548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458968" y="1051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Secure Role-Based Login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5458968" y="1362456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Separate portals for Student, Teacher, Admin with JWT security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274320" y="2221992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274320" y="2221992"/>
            <a:ext cx="64008" cy="1078992"/>
          </a:xfrm>
          <a:prstGeom prst="rect">
            <a:avLst/>
          </a:prstGeom>
          <a:solidFill>
            <a:srgbClr val="00D4B4"/>
          </a:solidFill>
          <a:ln w="12700">
            <a:solidFill>
              <a:srgbClr val="00D4B4"/>
            </a:solidFill>
            <a:prstDash val="solid"/>
          </a:ln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2404872"/>
            <a:ext cx="475488" cy="47548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1024128" y="23134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Real-Time Data Access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24128" y="262432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Live university database — fee status, results, timetables always updated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4709160" y="2221992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4709160" y="2221992"/>
            <a:ext cx="64008" cy="1078992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404872"/>
            <a:ext cx="475488" cy="4754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458968" y="23134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Smart Notifications</a:t>
            </a:r>
            <a:endParaRPr lang="en-US" sz="1200" dirty="0"/>
          </a:p>
        </p:txBody>
      </p:sp>
      <p:sp>
        <p:nvSpPr>
          <p:cNvPr id="32" name="Text 26"/>
          <p:cNvSpPr/>
          <p:nvPr/>
        </p:nvSpPr>
        <p:spPr>
          <a:xfrm>
            <a:off x="5458968" y="262432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Automated alerts for fee deadlines, exams, results via email &amp; in-app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274320" y="3483864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274320" y="3483864"/>
            <a:ext cx="64008" cy="107899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" y="3666744"/>
            <a:ext cx="475488" cy="47548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024128" y="3575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Responsive Interface</a:t>
            </a:r>
            <a:endParaRPr lang="en-US" sz="1200" dirty="0"/>
          </a:p>
        </p:txBody>
      </p:sp>
      <p:sp>
        <p:nvSpPr>
          <p:cNvPr id="37" name="Text 30"/>
          <p:cNvSpPr/>
          <p:nvPr/>
        </p:nvSpPr>
        <p:spPr>
          <a:xfrm>
            <a:off x="1024128" y="3886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Works on mobile, tablet, desktop — no app installation required</a:t>
            </a:r>
            <a:endParaRPr lang="en-US" sz="950" dirty="0"/>
          </a:p>
        </p:txBody>
      </p:sp>
      <p:sp>
        <p:nvSpPr>
          <p:cNvPr id="38" name="Shape 31"/>
          <p:cNvSpPr/>
          <p:nvPr/>
        </p:nvSpPr>
        <p:spPr>
          <a:xfrm>
            <a:off x="4709160" y="3483864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4709160" y="3483864"/>
            <a:ext cx="64008" cy="1078992"/>
          </a:xfrm>
          <a:prstGeom prst="rect">
            <a:avLst/>
          </a:prstGeom>
          <a:solidFill>
            <a:srgbClr val="00B894"/>
          </a:solidFill>
          <a:ln w="12700">
            <a:solidFill>
              <a:srgbClr val="00B894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3666744"/>
            <a:ext cx="475488" cy="47548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5458968" y="3575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Admin Analytics</a:t>
            </a:r>
            <a:endParaRPr lang="en-US" sz="1200" dirty="0"/>
          </a:p>
        </p:txBody>
      </p:sp>
      <p:sp>
        <p:nvSpPr>
          <p:cNvPr id="42" name="Text 34"/>
          <p:cNvSpPr/>
          <p:nvPr/>
        </p:nvSpPr>
        <p:spPr>
          <a:xfrm>
            <a:off x="5458968" y="3886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Real-time charts for query trends, user activity &amp; system health</a:t>
            </a:r>
            <a:endParaRPr lang="en-US" sz="950" dirty="0"/>
          </a:p>
        </p:txBody>
      </p:sp>
      <p:sp>
        <p:nvSpPr>
          <p:cNvPr id="43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0" y="5029200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FA0"/>
                </a:solidFill>
              </a:rPr>
              <a:t>AI Campus Assistant System  |  2025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085334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3"/>
          <p:cNvSpPr/>
          <p:nvPr/>
        </p:nvSpPr>
        <p:spPr>
          <a:xfrm>
            <a:off x="182880" y="109728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12BD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82880" y="1097280"/>
            <a:ext cx="2057400" cy="502920"/>
          </a:xfrm>
          <a:prstGeom prst="rect">
            <a:avLst/>
          </a:prstGeom>
          <a:solidFill>
            <a:srgbClr val="512BD4"/>
          </a:solidFill>
          <a:ln/>
        </p:spPr>
      </p:sp>
      <p:sp>
        <p:nvSpPr>
          <p:cNvPr id="8" name="Text 5"/>
          <p:cNvSpPr/>
          <p:nvPr/>
        </p:nvSpPr>
        <p:spPr>
          <a:xfrm>
            <a:off x="182880" y="10972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274320" y="166420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74320" y="2103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Framework (.NET 8)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423160" y="109728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13AA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23160" y="1097280"/>
            <a:ext cx="2057400" cy="502920"/>
          </a:xfrm>
          <a:prstGeom prst="rect">
            <a:avLst/>
          </a:prstGeom>
          <a:solidFill>
            <a:srgbClr val="13AA52"/>
          </a:solidFill>
          <a:ln/>
        </p:spPr>
      </p:sp>
      <p:sp>
        <p:nvSpPr>
          <p:cNvPr id="13" name="Text 10"/>
          <p:cNvSpPr/>
          <p:nvPr/>
        </p:nvSpPr>
        <p:spPr>
          <a:xfrm>
            <a:off x="2423160" y="10972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514600" y="166420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514600" y="2103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Database v2.28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663440" y="109728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285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663440" y="1097280"/>
            <a:ext cx="2057400" cy="502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5"/>
          <p:cNvSpPr/>
          <p:nvPr/>
        </p:nvSpPr>
        <p:spPr>
          <a:xfrm>
            <a:off x="4663440" y="10972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G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754880" y="166420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754880" y="2103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API (Pro)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903720" y="109728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496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903720" y="1097280"/>
            <a:ext cx="2057400" cy="502920"/>
          </a:xfrm>
          <a:prstGeom prst="rect">
            <a:avLst/>
          </a:prstGeom>
          <a:solidFill>
            <a:srgbClr val="2496ED"/>
          </a:solidFill>
          <a:ln/>
        </p:spPr>
      </p:sp>
      <p:sp>
        <p:nvSpPr>
          <p:cNvPr id="23" name="Text 20"/>
          <p:cNvSpPr/>
          <p:nvPr/>
        </p:nvSpPr>
        <p:spPr>
          <a:xfrm>
            <a:off x="6903720" y="10972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D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6995160" y="166420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995160" y="2103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Containerization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82880" y="274320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952B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82880" y="2743200"/>
            <a:ext cx="2057400" cy="502920"/>
          </a:xfrm>
          <a:prstGeom prst="rect">
            <a:avLst/>
          </a:prstGeom>
          <a:solidFill>
            <a:srgbClr val="7952B3"/>
          </a:solidFill>
          <a:ln/>
        </p:spPr>
      </p:sp>
      <p:sp>
        <p:nvSpPr>
          <p:cNvPr id="28" name="Text 25"/>
          <p:cNvSpPr/>
          <p:nvPr/>
        </p:nvSpPr>
        <p:spPr>
          <a:xfrm>
            <a:off x="182880" y="27432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B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274320" y="331012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274320" y="37490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UI Framework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2423160" y="274320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5353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23160" y="2743200"/>
            <a:ext cx="2057400" cy="502920"/>
          </a:xfrm>
          <a:prstGeom prst="rect">
            <a:avLst/>
          </a:prstGeom>
          <a:solidFill>
            <a:srgbClr val="E55353"/>
          </a:solidFill>
          <a:ln/>
        </p:spPr>
      </p:sp>
      <p:sp>
        <p:nvSpPr>
          <p:cNvPr id="33" name="Text 30"/>
          <p:cNvSpPr/>
          <p:nvPr/>
        </p:nvSpPr>
        <p:spPr>
          <a:xfrm>
            <a:off x="2423160" y="27432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B</a:t>
            </a:r>
            <a:endParaRPr lang="en-US" sz="2400" dirty="0"/>
          </a:p>
        </p:txBody>
      </p:sp>
      <p:sp>
        <p:nvSpPr>
          <p:cNvPr id="34" name="Text 31"/>
          <p:cNvSpPr/>
          <p:nvPr/>
        </p:nvSpPr>
        <p:spPr>
          <a:xfrm>
            <a:off x="2514600" y="331012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BCrypt.Net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514600" y="37490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Hashing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663440" y="274320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3912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663440" y="2743200"/>
            <a:ext cx="2057400" cy="502920"/>
          </a:xfrm>
          <a:prstGeom prst="rect">
            <a:avLst/>
          </a:prstGeom>
          <a:solidFill>
            <a:srgbClr val="239120"/>
          </a:solidFill>
          <a:ln/>
        </p:spPr>
      </p:sp>
      <p:sp>
        <p:nvSpPr>
          <p:cNvPr id="38" name="Text 35"/>
          <p:cNvSpPr/>
          <p:nvPr/>
        </p:nvSpPr>
        <p:spPr>
          <a:xfrm>
            <a:off x="4663440" y="27432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C</a:t>
            </a:r>
            <a:endParaRPr lang="en-US" sz="2400" dirty="0"/>
          </a:p>
        </p:txBody>
      </p:sp>
      <p:sp>
        <p:nvSpPr>
          <p:cNvPr id="39" name="Text 36"/>
          <p:cNvSpPr/>
          <p:nvPr/>
        </p:nvSpPr>
        <p:spPr>
          <a:xfrm>
            <a:off x="4754880" y="331012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/ Razor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4754880" y="37490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&amp; View Engine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903720" y="2743200"/>
            <a:ext cx="2057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5C2D9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903720" y="2743200"/>
            <a:ext cx="2057400" cy="5029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43" name="Text 40"/>
          <p:cNvSpPr/>
          <p:nvPr/>
        </p:nvSpPr>
        <p:spPr>
          <a:xfrm>
            <a:off x="6903720" y="274320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 Black" pitchFamily="34" charset="0"/>
                <a:ea typeface="Calibri Black" pitchFamily="34" charset="-122"/>
                <a:cs typeface="Calibri Black" pitchFamily="34" charset="-120"/>
              </a:rPr>
              <a:t>V</a:t>
            </a:r>
            <a:endParaRPr lang="en-US" sz="2400" dirty="0"/>
          </a:p>
        </p:txBody>
      </p:sp>
      <p:sp>
        <p:nvSpPr>
          <p:cNvPr id="44" name="Text 41"/>
          <p:cNvSpPr/>
          <p:nvPr/>
        </p:nvSpPr>
        <p:spPr>
          <a:xfrm>
            <a:off x="6995160" y="3310128"/>
            <a:ext cx="1874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A24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Studio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6995160" y="37490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IDE</a:t>
            </a:r>
            <a:endParaRPr lang="en-US" sz="1000" dirty="0"/>
          </a:p>
        </p:txBody>
      </p:sp>
      <p:sp>
        <p:nvSpPr>
          <p:cNvPr id="48" name="Shape 0"/>
          <p:cNvSpPr>
            <a:spLocks noChangeArrowheads="1"/>
          </p:cNvSpPr>
          <p:nvPr/>
        </p:nvSpPr>
        <p:spPr bwMode="auto">
          <a:xfrm>
            <a:off x="-51155" y="0"/>
            <a:ext cx="9144000" cy="648710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sz="3200" dirty="0" smtClean="0">
                <a:solidFill>
                  <a:schemeClr val="bg1"/>
                </a:solidFill>
              </a:rPr>
              <a:t>       Tools &amp; Technologies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658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hape 0"/>
          <p:cNvSpPr>
            <a:spLocks noChangeArrowheads="1"/>
          </p:cNvSpPr>
          <p:nvPr/>
        </p:nvSpPr>
        <p:spPr bwMode="auto">
          <a:xfrm>
            <a:off x="0" y="0"/>
            <a:ext cx="9144000" cy="616226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5" name="Text 1"/>
          <p:cNvSpPr>
            <a:spLocks noChangeArrowheads="1"/>
          </p:cNvSpPr>
          <p:nvPr/>
        </p:nvSpPr>
        <p:spPr bwMode="auto">
          <a:xfrm>
            <a:off x="274637" y="0"/>
            <a:ext cx="8594725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2400" b="1" dirty="0" smtClean="0">
                <a:solidFill>
                  <a:srgbClr val="FFFFFF"/>
                </a:solidFill>
                <a:latin typeface="Arial Black" panose="020B0A04020102020204" pitchFamily="34" charset="0"/>
              </a:rPr>
              <a:t>System Architecture</a:t>
            </a:r>
            <a:endParaRPr lang="en-US" sz="2400" dirty="0"/>
          </a:p>
        </p:txBody>
      </p:sp>
      <p:sp>
        <p:nvSpPr>
          <p:cNvPr id="8196" name="Text 2"/>
          <p:cNvSpPr>
            <a:spLocks noChangeArrowheads="1"/>
          </p:cNvSpPr>
          <p:nvPr/>
        </p:nvSpPr>
        <p:spPr bwMode="auto">
          <a:xfrm>
            <a:off x="274638" y="530225"/>
            <a:ext cx="8594725" cy="38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endParaRPr lang="en-US" sz="1400" dirty="0"/>
          </a:p>
        </p:txBody>
      </p:sp>
      <p:sp>
        <p:nvSpPr>
          <p:cNvPr id="32" name="Text 36"/>
          <p:cNvSpPr>
            <a:spLocks noChangeArrowheads="1"/>
          </p:cNvSpPr>
          <p:nvPr/>
        </p:nvSpPr>
        <p:spPr bwMode="auto">
          <a:xfrm>
            <a:off x="6557472" y="3558137"/>
            <a:ext cx="2606675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1300" b="1" dirty="0">
                <a:solidFill>
                  <a:srgbClr val="FFFFFF"/>
                </a:solidFill>
                <a:cs typeface="Calibri" pitchFamily="34" charset="0"/>
              </a:rPr>
              <a:t>3. REDUCE PHASE</a:t>
            </a:r>
            <a:endParaRPr lang="en-US" sz="1300" dirty="0"/>
          </a:p>
        </p:txBody>
      </p:sp>
      <p:pic>
        <p:nvPicPr>
          <p:cNvPr id="7" name="Picture 6" descr="IMG-20260604-WA0001"/>
          <p:cNvPicPr/>
          <p:nvPr/>
        </p:nvPicPr>
        <p:blipFill>
          <a:blip r:embed="rId3"/>
          <a:stretch>
            <a:fillRect/>
          </a:stretch>
        </p:blipFill>
        <p:spPr>
          <a:xfrm>
            <a:off x="1268634" y="722312"/>
            <a:ext cx="6398260" cy="4265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2978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Shape 0"/>
          <p:cNvSpPr>
            <a:spLocks noChangeArrowheads="1"/>
          </p:cNvSpPr>
          <p:nvPr/>
        </p:nvSpPr>
        <p:spPr bwMode="auto">
          <a:xfrm>
            <a:off x="-51155" y="0"/>
            <a:ext cx="9144000" cy="648710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195" name="Text 1"/>
          <p:cNvSpPr>
            <a:spLocks noChangeArrowheads="1"/>
          </p:cNvSpPr>
          <p:nvPr/>
        </p:nvSpPr>
        <p:spPr bwMode="auto">
          <a:xfrm>
            <a:off x="223483" y="99435"/>
            <a:ext cx="8594725" cy="549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endParaRPr lang="en-US" sz="2400" b="1" dirty="0">
              <a:solidFill>
                <a:srgbClr val="FFFFFF"/>
              </a:solidFill>
              <a:latin typeface="Arial Black" panose="020B0A04020102020204" pitchFamily="34" charset="0"/>
            </a:endParaRPr>
          </a:p>
          <a:p>
            <a:pPr algn="ctr"/>
            <a:r>
              <a:rPr lang="en-US" sz="2400" b="1" dirty="0" smtClean="0">
                <a:solidFill>
                  <a:srgbClr val="FFFFFF"/>
                </a:solidFill>
                <a:latin typeface="Arial Black" panose="020B0A04020102020204" pitchFamily="34" charset="0"/>
              </a:rPr>
              <a:t>ERD</a:t>
            </a:r>
          </a:p>
          <a:p>
            <a:pPr algn="ctr"/>
            <a:endParaRPr lang="en-US" sz="2400" dirty="0"/>
          </a:p>
        </p:txBody>
      </p:sp>
      <p:sp>
        <p:nvSpPr>
          <p:cNvPr id="32" name="Text 36"/>
          <p:cNvSpPr>
            <a:spLocks noChangeArrowheads="1"/>
          </p:cNvSpPr>
          <p:nvPr/>
        </p:nvSpPr>
        <p:spPr bwMode="auto">
          <a:xfrm>
            <a:off x="6557472" y="3558137"/>
            <a:ext cx="2606675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1300" b="1" dirty="0">
                <a:solidFill>
                  <a:srgbClr val="FFFFFF"/>
                </a:solidFill>
                <a:cs typeface="Calibri" pitchFamily="34" charset="0"/>
              </a:rPr>
              <a:t>3. REDUCE PHASE</a:t>
            </a:r>
            <a:endParaRPr lang="en-US" sz="1300" dirty="0"/>
          </a:p>
        </p:txBody>
      </p:sp>
      <p:pic>
        <p:nvPicPr>
          <p:cNvPr id="10" name="Picture 9" descr="Gemini_Generated_Image_omgl86omgl86omgl"/>
          <p:cNvPicPr/>
          <p:nvPr/>
        </p:nvPicPr>
        <p:blipFill>
          <a:blip r:embed="rId3"/>
          <a:stretch>
            <a:fillRect/>
          </a:stretch>
        </p:blipFill>
        <p:spPr>
          <a:xfrm>
            <a:off x="1809616" y="1067866"/>
            <a:ext cx="5934009" cy="3823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9539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1097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80C1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Advantages &amp; Disadvantages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" y="685800"/>
            <a:ext cx="4206240" cy="4251960"/>
          </a:xfrm>
          <a:prstGeom prst="rect">
            <a:avLst/>
          </a:prstGeom>
          <a:solidFill>
            <a:srgbClr val="E8FBF4"/>
          </a:solidFill>
          <a:ln w="12700">
            <a:solidFill>
              <a:srgbClr val="00C48C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8600" y="685800"/>
            <a:ext cx="4206240" cy="411480"/>
          </a:xfrm>
          <a:prstGeom prst="rect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758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7589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FFFF"/>
                </a:solidFill>
              </a:rPr>
              <a:t>ADVANTAGES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7472" y="1197864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12064" y="116128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Available 24/7 — help anytime, anywhere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" y="1645920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064" y="160934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Reduces staff workload significantly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47472" y="2093976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2064" y="20574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Instant &amp; consistent answers for all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47472" y="2542032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12064" y="250545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Handles thousands of users at once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47472" y="2990088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12064" y="29535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Personalized data per student login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7472" y="3438144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12064" y="340156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Lowers university operational cost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47472" y="3886200"/>
            <a:ext cx="91440" cy="91440"/>
          </a:xfrm>
          <a:prstGeom prst="ellipse">
            <a:avLst/>
          </a:prstGeom>
          <a:solidFill>
            <a:srgbClr val="00C48C"/>
          </a:solidFill>
          <a:ln w="12700">
            <a:solidFill>
              <a:srgbClr val="00C48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12064" y="3849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3A2A"/>
                </a:solidFill>
              </a:rPr>
              <a:t>AI learns from repeated queries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709160" y="685800"/>
            <a:ext cx="4206240" cy="4251960"/>
          </a:xfrm>
          <a:prstGeom prst="rect">
            <a:avLst/>
          </a:prstGeom>
          <a:solidFill>
            <a:srgbClr val="FEF2F2"/>
          </a:solidFill>
          <a:ln w="12700">
            <a:solidFill>
              <a:srgbClr val="F96167">
                <a:alpha val="4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09160" y="685800"/>
            <a:ext cx="4206240" cy="411480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758952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138928" y="75895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FFFFFF"/>
                </a:solidFill>
              </a:rPr>
              <a:t>DISADVANTAGES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4828032" y="1197864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4992624" y="116128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Cannot handle emotional situations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828032" y="1645920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992624" y="160934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Needs continuous AI retraining</a:t>
            </a:r>
            <a:endParaRPr lang="en-US" sz="1050" dirty="0"/>
          </a:p>
        </p:txBody>
      </p:sp>
      <p:sp>
        <p:nvSpPr>
          <p:cNvPr id="30" name="Shape 26"/>
          <p:cNvSpPr/>
          <p:nvPr/>
        </p:nvSpPr>
        <p:spPr>
          <a:xfrm>
            <a:off x="4828032" y="2093976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992624" y="2057400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High initial setup &amp; cost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4828032" y="2542032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4992624" y="2505456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Limited Urdu/local language support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4828032" y="2990088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92624" y="2953512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Requires stable internet connection</a:t>
            </a:r>
            <a:endParaRPr lang="en-US" sz="1050" dirty="0"/>
          </a:p>
        </p:txBody>
      </p:sp>
      <p:sp>
        <p:nvSpPr>
          <p:cNvPr id="36" name="Shape 32"/>
          <p:cNvSpPr/>
          <p:nvPr/>
        </p:nvSpPr>
        <p:spPr>
          <a:xfrm>
            <a:off x="4828032" y="3438144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992624" y="340156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May give wrong answers sometimes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4828032" y="3886200"/>
            <a:ext cx="91440" cy="91440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4992624" y="3849624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A1A1A"/>
                </a:solidFill>
              </a:rPr>
              <a:t>Some students prefer human support</a:t>
            </a:r>
            <a:endParaRPr lang="en-US" sz="1050" dirty="0"/>
          </a:p>
        </p:txBody>
      </p:sp>
      <p:sp>
        <p:nvSpPr>
          <p:cNvPr id="41" name="Text 37"/>
          <p:cNvSpPr/>
          <p:nvPr/>
        </p:nvSpPr>
        <p:spPr>
          <a:xfrm>
            <a:off x="0" y="5029200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FA0"/>
                </a:solidFill>
              </a:rPr>
              <a:t>AI Campus Assistant System  |  2025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782104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46863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Work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411480" y="5760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64008" cy="1078992"/>
          </a:xfrm>
          <a:prstGeom prst="rect">
            <a:avLst/>
          </a:prstGeom>
          <a:solidFill>
            <a:srgbClr val="4A8CF7"/>
          </a:solidFill>
          <a:ln w="12700">
            <a:solidFill>
              <a:srgbClr val="4A8CF7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143000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24128" y="1051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Multilingual Support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24128" y="1362456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Add full Urdu &amp; regional language processing for wider accessibility across Pakistan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09160" y="960120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960120"/>
            <a:ext cx="64008" cy="1078992"/>
          </a:xfrm>
          <a:prstGeom prst="rect">
            <a:avLst/>
          </a:prstGeom>
          <a:solidFill>
            <a:srgbClr val="7C5CF7"/>
          </a:solidFill>
          <a:ln w="12700">
            <a:solidFill>
              <a:srgbClr val="7C5CF7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1143000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58968" y="10515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Dedicated Mobile App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458968" y="1362456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Launch Android &amp; iOS apps with offline mode, push notifications, and biometric login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274320" y="2221992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74320" y="2221992"/>
            <a:ext cx="64008" cy="1078992"/>
          </a:xfrm>
          <a:prstGeom prst="rect">
            <a:avLst/>
          </a:prstGeom>
          <a:solidFill>
            <a:srgbClr val="00D4B4"/>
          </a:solidFill>
          <a:ln w="12700">
            <a:solidFill>
              <a:srgbClr val="00D4B4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2404872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24128" y="23134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LMS Integration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024128" y="262432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Connect with Moodle / Google Classroom to auto-sync assignments, grades, and deadlines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709160" y="2221992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09160" y="2221992"/>
            <a:ext cx="64008" cy="1078992"/>
          </a:xfrm>
          <a:prstGeom prst="rect">
            <a:avLst/>
          </a:prstGeom>
          <a:solidFill>
            <a:srgbClr val="F5C518"/>
          </a:solidFill>
          <a:ln w="12700">
            <a:solidFill>
              <a:srgbClr val="F5C518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404872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458968" y="23134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Peer-to-Peer Chat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58968" y="2624328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Allow students to connect with seniors and mentors through the same platform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274320" y="3483864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274320" y="3483864"/>
            <a:ext cx="64008" cy="1078992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8912" y="3666744"/>
            <a:ext cx="475488" cy="47548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24128" y="3575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Voice Assistant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1024128" y="3886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Enable voice-based queries so students can speak questions instead of typing them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4709160" y="3483864"/>
            <a:ext cx="4206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0D8FF"/>
            </a:solidFill>
            <a:prstDash val="solid"/>
          </a:ln>
          <a:effectLst>
            <a:outerShdw blurRad="762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709160" y="3483864"/>
            <a:ext cx="64008" cy="1078992"/>
          </a:xfrm>
          <a:prstGeom prst="rect">
            <a:avLst/>
          </a:prstGeom>
          <a:solidFill>
            <a:srgbClr val="00B894"/>
          </a:solidFill>
          <a:ln w="12700">
            <a:solidFill>
              <a:srgbClr val="00B894"/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3666744"/>
            <a:ext cx="475488" cy="47548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458968" y="3575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80C18"/>
                </a:solidFill>
              </a:rPr>
              <a:t>Predictive Analytics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5458968" y="3886200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</a:rPr>
              <a:t>AI predicts students at-risk of failing based on attendance and fee defaults</a:t>
            </a:r>
            <a:endParaRPr lang="en-US" sz="950" dirty="0"/>
          </a:p>
        </p:txBody>
      </p:sp>
      <p:sp>
        <p:nvSpPr>
          <p:cNvPr id="36" name="Text 28"/>
          <p:cNvSpPr/>
          <p:nvPr/>
        </p:nvSpPr>
        <p:spPr>
          <a:xfrm>
            <a:off x="0" y="5035594"/>
            <a:ext cx="9052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FA0"/>
                </a:solidFill>
              </a:rPr>
              <a:t>AI Campus Assistant System  |  2025</a:t>
            </a:r>
            <a:endParaRPr lang="en-US" sz="750" dirty="0"/>
          </a:p>
        </p:txBody>
      </p:sp>
      <p:sp>
        <p:nvSpPr>
          <p:cNvPr id="37" name="Shape 0"/>
          <p:cNvSpPr>
            <a:spLocks noChangeArrowheads="1"/>
          </p:cNvSpPr>
          <p:nvPr/>
        </p:nvSpPr>
        <p:spPr bwMode="auto">
          <a:xfrm>
            <a:off x="0" y="0"/>
            <a:ext cx="9144000" cy="576072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indent="0">
              <a:buNone/>
            </a:pPr>
            <a:r>
              <a:rPr lang="en-US" b="1" dirty="0" smtClean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                                </a:t>
            </a:r>
            <a:r>
              <a:rPr lang="en-US" sz="2800" b="1" dirty="0" smtClean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</a:t>
            </a:r>
            <a:r>
              <a:rPr lang="en-US" sz="2800" b="1" dirty="0">
                <a:solidFill>
                  <a:schemeClr val="bg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</a:t>
            </a:r>
            <a:endParaRPr 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4495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Shape 0"/>
          <p:cNvSpPr>
            <a:spLocks noChangeArrowheads="1"/>
          </p:cNvSpPr>
          <p:nvPr/>
        </p:nvSpPr>
        <p:spPr bwMode="auto">
          <a:xfrm>
            <a:off x="0" y="0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1" name="Shape 1"/>
          <p:cNvSpPr>
            <a:spLocks noChangeArrowheads="1"/>
          </p:cNvSpPr>
          <p:nvPr/>
        </p:nvSpPr>
        <p:spPr bwMode="auto">
          <a:xfrm>
            <a:off x="0" y="5070475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125" y="1006475"/>
            <a:ext cx="8413750" cy="712788"/>
          </a:xfrm>
          <a:prstGeom prst="rect">
            <a:avLst/>
          </a:prstGeom>
          <a:solidFill>
            <a:srgbClr val="1A3A5C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414" name="Shape 4"/>
          <p:cNvSpPr>
            <a:spLocks noChangeArrowheads="1"/>
          </p:cNvSpPr>
          <p:nvPr/>
        </p:nvSpPr>
        <p:spPr bwMode="auto">
          <a:xfrm>
            <a:off x="457200" y="1096963"/>
            <a:ext cx="476250" cy="476250"/>
          </a:xfrm>
          <a:prstGeom prst="ellipse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5" name="Text 5"/>
          <p:cNvSpPr>
            <a:spLocks noChangeArrowheads="1"/>
          </p:cNvSpPr>
          <p:nvPr/>
        </p:nvSpPr>
        <p:spPr bwMode="auto">
          <a:xfrm>
            <a:off x="457200" y="1096963"/>
            <a:ext cx="4762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1</a:t>
            </a:r>
            <a:endParaRPr lang="en-US" sz="1400"/>
          </a:p>
        </p:txBody>
      </p:sp>
      <p:sp>
        <p:nvSpPr>
          <p:cNvPr id="17416" name="Text 6"/>
          <p:cNvSpPr>
            <a:spLocks noChangeArrowheads="1"/>
          </p:cNvSpPr>
          <p:nvPr/>
        </p:nvSpPr>
        <p:spPr bwMode="auto">
          <a:xfrm>
            <a:off x="1050925" y="1006475"/>
            <a:ext cx="7589838" cy="712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1400" dirty="0">
                <a:solidFill>
                  <a:schemeClr val="bg1"/>
                </a:solidFill>
              </a:rPr>
              <a:t>The modular design makes the system easy to maintain and scale for future needs</a:t>
            </a:r>
            <a:r>
              <a:rPr lang="en-US" sz="1400" dirty="0"/>
              <a:t>.</a:t>
            </a:r>
          </a:p>
        </p:txBody>
      </p:sp>
      <p:sp>
        <p:nvSpPr>
          <p:cNvPr id="9" name="Shape 7"/>
          <p:cNvSpPr/>
          <p:nvPr/>
        </p:nvSpPr>
        <p:spPr>
          <a:xfrm>
            <a:off x="365125" y="1828800"/>
            <a:ext cx="8413750" cy="712788"/>
          </a:xfrm>
          <a:prstGeom prst="rect">
            <a:avLst/>
          </a:prstGeom>
          <a:solidFill>
            <a:srgbClr val="1A3A5C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418" name="Shape 8"/>
          <p:cNvSpPr>
            <a:spLocks noChangeArrowheads="1"/>
          </p:cNvSpPr>
          <p:nvPr/>
        </p:nvSpPr>
        <p:spPr bwMode="auto">
          <a:xfrm>
            <a:off x="457200" y="1920875"/>
            <a:ext cx="476250" cy="474663"/>
          </a:xfrm>
          <a:prstGeom prst="ellipse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19" name="Text 9"/>
          <p:cNvSpPr>
            <a:spLocks noChangeArrowheads="1"/>
          </p:cNvSpPr>
          <p:nvPr/>
        </p:nvSpPr>
        <p:spPr bwMode="auto">
          <a:xfrm>
            <a:off x="457200" y="1920875"/>
            <a:ext cx="476250" cy="474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2</a:t>
            </a:r>
            <a:endParaRPr lang="en-US" sz="1400"/>
          </a:p>
        </p:txBody>
      </p:sp>
      <p:sp>
        <p:nvSpPr>
          <p:cNvPr id="17420" name="Text 10"/>
          <p:cNvSpPr>
            <a:spLocks noChangeArrowheads="1"/>
          </p:cNvSpPr>
          <p:nvPr/>
        </p:nvSpPr>
        <p:spPr bwMode="auto">
          <a:xfrm>
            <a:off x="1050925" y="1828800"/>
            <a:ext cx="7589838" cy="712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125" y="2651125"/>
            <a:ext cx="8413750" cy="714375"/>
          </a:xfrm>
          <a:prstGeom prst="rect">
            <a:avLst/>
          </a:prstGeom>
          <a:solidFill>
            <a:srgbClr val="1A3A5C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422" name="Shape 12"/>
          <p:cNvSpPr>
            <a:spLocks noChangeArrowheads="1"/>
          </p:cNvSpPr>
          <p:nvPr/>
        </p:nvSpPr>
        <p:spPr bwMode="auto">
          <a:xfrm>
            <a:off x="457200" y="2743200"/>
            <a:ext cx="476250" cy="476250"/>
          </a:xfrm>
          <a:prstGeom prst="ellipse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3" name="Text 13"/>
          <p:cNvSpPr>
            <a:spLocks noChangeArrowheads="1"/>
          </p:cNvSpPr>
          <p:nvPr/>
        </p:nvSpPr>
        <p:spPr bwMode="auto">
          <a:xfrm>
            <a:off x="457200" y="2743200"/>
            <a:ext cx="4762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3</a:t>
            </a:r>
            <a:endParaRPr lang="en-US" sz="1400"/>
          </a:p>
        </p:txBody>
      </p:sp>
      <p:sp>
        <p:nvSpPr>
          <p:cNvPr id="17424" name="Text 14"/>
          <p:cNvSpPr>
            <a:spLocks noChangeArrowheads="1"/>
          </p:cNvSpPr>
          <p:nvPr/>
        </p:nvSpPr>
        <p:spPr bwMode="auto">
          <a:xfrm>
            <a:off x="1050925" y="2651125"/>
            <a:ext cx="7589838" cy="714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1400" dirty="0" smtClean="0">
                <a:solidFill>
                  <a:schemeClr val="bg1"/>
                </a:solidFill>
              </a:rPr>
              <a:t>Strong </a:t>
            </a:r>
            <a:r>
              <a:rPr lang="en-US" sz="1400" dirty="0">
                <a:solidFill>
                  <a:schemeClr val="bg1"/>
                </a:solidFill>
              </a:rPr>
              <a:t>security protocols ensure that all institutional data remains private and safe.</a:t>
            </a:r>
          </a:p>
          <a:p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65125" y="3475038"/>
            <a:ext cx="8413750" cy="712787"/>
          </a:xfrm>
          <a:prstGeom prst="rect">
            <a:avLst/>
          </a:prstGeom>
          <a:solidFill>
            <a:srgbClr val="1A3A5C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17426" name="Shape 16"/>
          <p:cNvSpPr>
            <a:spLocks noChangeArrowheads="1"/>
          </p:cNvSpPr>
          <p:nvPr/>
        </p:nvSpPr>
        <p:spPr bwMode="auto">
          <a:xfrm>
            <a:off x="457200" y="3565525"/>
            <a:ext cx="476250" cy="476250"/>
          </a:xfrm>
          <a:prstGeom prst="ellipse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27" name="Text 17"/>
          <p:cNvSpPr>
            <a:spLocks noChangeArrowheads="1"/>
          </p:cNvSpPr>
          <p:nvPr/>
        </p:nvSpPr>
        <p:spPr bwMode="auto">
          <a:xfrm>
            <a:off x="457200" y="3565525"/>
            <a:ext cx="47625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1400" b="1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4</a:t>
            </a:r>
            <a:endParaRPr lang="en-US" sz="1400"/>
          </a:p>
        </p:txBody>
      </p:sp>
      <p:sp>
        <p:nvSpPr>
          <p:cNvPr id="17428" name="Text 18"/>
          <p:cNvSpPr>
            <a:spLocks noChangeArrowheads="1"/>
          </p:cNvSpPr>
          <p:nvPr/>
        </p:nvSpPr>
        <p:spPr bwMode="auto">
          <a:xfrm>
            <a:off x="1050925" y="3475038"/>
            <a:ext cx="7589838" cy="71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r>
              <a:rPr lang="en-US" sz="1400" dirty="0">
                <a:solidFill>
                  <a:schemeClr val="bg1"/>
                </a:solidFill>
              </a:rPr>
              <a:t>Routine tasks like grading and attendance are now fully automated and fast.</a:t>
            </a:r>
          </a:p>
        </p:txBody>
      </p:sp>
      <p:sp>
        <p:nvSpPr>
          <p:cNvPr id="17429" name="Text 20"/>
          <p:cNvSpPr>
            <a:spLocks noChangeArrowheads="1"/>
          </p:cNvSpPr>
          <p:nvPr/>
        </p:nvSpPr>
        <p:spPr bwMode="auto">
          <a:xfrm>
            <a:off x="2286000" y="4343400"/>
            <a:ext cx="4572000" cy="6397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endParaRPr lang="en-US" sz="1600"/>
          </a:p>
        </p:txBody>
      </p:sp>
      <p:sp>
        <p:nvSpPr>
          <p:cNvPr id="22" name="Shape 0"/>
          <p:cNvSpPr>
            <a:spLocks noChangeArrowheads="1"/>
          </p:cNvSpPr>
          <p:nvPr/>
        </p:nvSpPr>
        <p:spPr bwMode="auto">
          <a:xfrm>
            <a:off x="0" y="0"/>
            <a:ext cx="9144000" cy="914400"/>
          </a:xfrm>
          <a:prstGeom prst="rect">
            <a:avLst/>
          </a:prstGeom>
          <a:solidFill>
            <a:srgbClr val="0A234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algn="ctr"/>
            <a:endParaRPr lang="en-US" b="1" dirty="0">
              <a:solidFill>
                <a:srgbClr val="FFFFFF"/>
              </a:solidFill>
              <a:latin typeface="Arial Black" panose="020B0A04020102020204" pitchFamily="34" charset="0"/>
              <a:ea typeface="Arial Black" panose="020B0A04020102020204" pitchFamily="34" charset="0"/>
              <a:cs typeface="Arial Black" panose="020B0A04020102020204" pitchFamily="34" charset="0"/>
            </a:endParaRPr>
          </a:p>
          <a:p>
            <a:pPr algn="ctr"/>
            <a:r>
              <a:rPr lang="en-US" sz="2800" b="1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CONCLUSION</a:t>
            </a:r>
            <a:endParaRPr lang="en-US" sz="2800" dirty="0"/>
          </a:p>
        </p:txBody>
      </p:sp>
      <p:sp>
        <p:nvSpPr>
          <p:cNvPr id="2" name="TextBox 1"/>
          <p:cNvSpPr txBox="1"/>
          <p:nvPr/>
        </p:nvSpPr>
        <p:spPr>
          <a:xfrm>
            <a:off x="1163782" y="1844880"/>
            <a:ext cx="7097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Integrated AI provides instant academic and teaching support for all </a:t>
            </a:r>
            <a:r>
              <a:rPr lang="en-US" dirty="0" smtClean="0">
                <a:solidFill>
                  <a:schemeClr val="bg1"/>
                </a:solidFill>
              </a:rPr>
              <a:t>users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7165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hape 0"/>
          <p:cNvSpPr>
            <a:spLocks noChangeArrowheads="1"/>
          </p:cNvSpPr>
          <p:nvPr/>
        </p:nvSpPr>
        <p:spPr bwMode="auto">
          <a:xfrm>
            <a:off x="0" y="0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35" name="Shape 1"/>
          <p:cNvSpPr>
            <a:spLocks noChangeArrowheads="1"/>
          </p:cNvSpPr>
          <p:nvPr/>
        </p:nvSpPr>
        <p:spPr bwMode="auto">
          <a:xfrm>
            <a:off x="0" y="5070475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0" y="2550538"/>
            <a:ext cx="4659312" cy="639762"/>
          </a:xfrm>
          <a:prstGeom prst="rect">
            <a:avLst/>
          </a:prstGeom>
          <a:solidFill>
            <a:srgbClr val="F5A623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437" name="Text 20"/>
          <p:cNvSpPr>
            <a:spLocks noChangeArrowheads="1"/>
          </p:cNvSpPr>
          <p:nvPr/>
        </p:nvSpPr>
        <p:spPr bwMode="auto">
          <a:xfrm>
            <a:off x="2286000" y="2049463"/>
            <a:ext cx="4615656" cy="8209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  </a:t>
            </a:r>
            <a:endParaRPr lang="en-US" sz="2800" b="1" dirty="0" smtClean="0">
              <a:solidFill>
                <a:srgbClr val="0A2342"/>
              </a:solidFill>
              <a:latin typeface="Arial Black" panose="020B0A04020102020204" pitchFamily="34" charset="0"/>
              <a:ea typeface="Arial Black" panose="020B0A04020102020204" pitchFamily="34" charset="0"/>
              <a:cs typeface="Arial Black" panose="020B0A04020102020204" pitchFamily="34" charset="0"/>
            </a:endParaRPr>
          </a:p>
          <a:p>
            <a:pPr algn="ctr"/>
            <a:endParaRPr lang="en-US" sz="2800" b="1" dirty="0" smtClean="0">
              <a:solidFill>
                <a:srgbClr val="0A2342"/>
              </a:solidFill>
              <a:latin typeface="Arial Black" panose="020B0A04020102020204" pitchFamily="34" charset="0"/>
              <a:ea typeface="Arial Black" panose="020B0A04020102020204" pitchFamily="34" charset="0"/>
              <a:cs typeface="Arial Black" panose="020B0A04020102020204" pitchFamily="34" charset="0"/>
            </a:endParaRPr>
          </a:p>
          <a:p>
            <a:pPr algn="ctr"/>
            <a:r>
              <a:rPr lang="en-US" sz="2800" b="1" dirty="0" smtClean="0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Any Questions?  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hape 0"/>
          <p:cNvSpPr>
            <a:spLocks noChangeArrowheads="1"/>
          </p:cNvSpPr>
          <p:nvPr/>
        </p:nvSpPr>
        <p:spPr bwMode="auto">
          <a:xfrm>
            <a:off x="0" y="0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59" name="Shape 1"/>
          <p:cNvSpPr>
            <a:spLocks noChangeArrowheads="1"/>
          </p:cNvSpPr>
          <p:nvPr/>
        </p:nvSpPr>
        <p:spPr bwMode="auto">
          <a:xfrm>
            <a:off x="0" y="5070475"/>
            <a:ext cx="9144000" cy="73025"/>
          </a:xfrm>
          <a:prstGeom prst="rect">
            <a:avLst/>
          </a:prstGeom>
          <a:solidFill>
            <a:srgbClr val="F5A62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98688" y="2033588"/>
            <a:ext cx="4659312" cy="639762"/>
          </a:xfrm>
          <a:prstGeom prst="rect">
            <a:avLst/>
          </a:prstGeom>
          <a:solidFill>
            <a:srgbClr val="F5A623"/>
          </a:solidFill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461" name="Text 20"/>
          <p:cNvSpPr>
            <a:spLocks noChangeArrowheads="1"/>
          </p:cNvSpPr>
          <p:nvPr/>
        </p:nvSpPr>
        <p:spPr bwMode="auto">
          <a:xfrm>
            <a:off x="2286000" y="2049463"/>
            <a:ext cx="4572000" cy="639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lang="en-US" sz="2800" b="1" dirty="0">
                <a:solidFill>
                  <a:srgbClr val="0A2342"/>
                </a:solidFill>
                <a:latin typeface="Arial Black" panose="020B0A04020102020204" pitchFamily="34" charset="0"/>
                <a:ea typeface="Arial Black" panose="020B0A04020102020204" pitchFamily="34" charset="0"/>
                <a:cs typeface="Arial Black" panose="020B0A04020102020204" pitchFamily="34" charset="0"/>
              </a:rPr>
              <a:t>  THANK YOU!  </a:t>
            </a:r>
            <a:endParaRPr lang="en-US"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</TotalTime>
  <Words>674</Words>
  <Application>Microsoft Office PowerPoint</Application>
  <PresentationFormat>On-screen Show (16:9)</PresentationFormat>
  <Paragraphs>163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Distributed Systems and MapReduce Basics</dc:title>
  <dc:subject>PptxGenJS Presentation</dc:subject>
  <dc:creator>PptxGenJS</dc:creator>
  <cp:lastModifiedBy>falcon</cp:lastModifiedBy>
  <cp:revision>25</cp:revision>
  <dcterms:created xsi:type="dcterms:W3CDTF">2026-05-17T01:51:00Z</dcterms:created>
  <dcterms:modified xsi:type="dcterms:W3CDTF">2026-06-05T12:59:48Z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5D1FF3E364304BD8818A109F03D6D217_12</vt:lpwstr>
  </property>
</Properties>
</file>